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5" r:id="rId4"/>
  </p:sldMasterIdLst>
  <p:notesMasterIdLst>
    <p:notesMasterId r:id="rId19"/>
  </p:notesMasterIdLst>
  <p:sldIdLst>
    <p:sldId id="256" r:id="rId5"/>
    <p:sldId id="257" r:id="rId6"/>
    <p:sldId id="258" r:id="rId7"/>
    <p:sldId id="269" r:id="rId8"/>
    <p:sldId id="270" r:id="rId9"/>
    <p:sldId id="259" r:id="rId10"/>
    <p:sldId id="260" r:id="rId11"/>
    <p:sldId id="261" r:id="rId12"/>
    <p:sldId id="262" r:id="rId13"/>
    <p:sldId id="263" r:id="rId14"/>
    <p:sldId id="264" r:id="rId15"/>
    <p:sldId id="265" r:id="rId16"/>
    <p:sldId id="266" r:id="rId17"/>
    <p:sldId id="268" r:id="rId18"/>
  </p:sldIdLst>
  <p:sldSz cx="10058400" cy="5676900"/>
  <p:notesSz cx="10058400" cy="56769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008080"/>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1068" y="120"/>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2841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284163"/>
          </a:xfrm>
          <a:prstGeom prst="rect">
            <a:avLst/>
          </a:prstGeom>
        </p:spPr>
        <p:txBody>
          <a:bodyPr vert="horz" lIns="91440" tIns="45720" rIns="91440" bIns="45720" rtlCol="0"/>
          <a:lstStyle>
            <a:lvl1pPr algn="r">
              <a:defRPr sz="1200"/>
            </a:lvl1pPr>
          </a:lstStyle>
          <a:p>
            <a:fld id="{80D3B452-8B98-4072-B3AA-930E179D729A}" type="datetimeFigureOut">
              <a:rPr lang="en-US" smtClean="0"/>
              <a:t>12/4/24</a:t>
            </a:fld>
            <a:endParaRPr lang="en-US"/>
          </a:p>
        </p:txBody>
      </p:sp>
      <p:sp>
        <p:nvSpPr>
          <p:cNvPr id="4" name="Slide Image Placeholder 3"/>
          <p:cNvSpPr>
            <a:spLocks noGrp="1" noRot="1" noChangeAspect="1"/>
          </p:cNvSpPr>
          <p:nvPr>
            <p:ph type="sldImg" idx="2"/>
          </p:nvPr>
        </p:nvSpPr>
        <p:spPr>
          <a:xfrm>
            <a:off x="3332163" y="709613"/>
            <a:ext cx="3394075" cy="1916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2732088"/>
            <a:ext cx="8045450" cy="22352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392738"/>
            <a:ext cx="4359275" cy="28416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5392738"/>
            <a:ext cx="4359275" cy="284162"/>
          </a:xfrm>
          <a:prstGeom prst="rect">
            <a:avLst/>
          </a:prstGeom>
        </p:spPr>
        <p:txBody>
          <a:bodyPr vert="horz" lIns="91440" tIns="45720" rIns="91440" bIns="45720" rtlCol="0" anchor="b"/>
          <a:lstStyle>
            <a:lvl1pPr algn="r">
              <a:defRPr sz="1200"/>
            </a:lvl1pPr>
          </a:lstStyle>
          <a:p>
            <a:fld id="{12249B99-78A9-41F4-8EB4-7ECE12D95B3D}" type="slidenum">
              <a:rPr lang="en-US" smtClean="0"/>
              <a:t>‹#›</a:t>
            </a:fld>
            <a:endParaRPr lang="en-US"/>
          </a:p>
        </p:txBody>
      </p:sp>
    </p:spTree>
    <p:extLst>
      <p:ext uri="{BB962C8B-B14F-4D97-AF65-F5344CB8AC3E}">
        <p14:creationId xmlns:p14="http://schemas.microsoft.com/office/powerpoint/2010/main" val="4012862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a:effectLst/>
              <a:latin typeface="Arial" panose="020B0604020202020204" pitchFamily="34" charset="0"/>
              <a:ea typeface="Arial" panose="020B0604020202020204" pitchFamily="34" charset="0"/>
            </a:endParaRPr>
          </a:p>
          <a:p>
            <a:r>
              <a:rPr lang="en-GB" sz="1200">
                <a:effectLst/>
                <a:latin typeface="Arial" panose="020B0604020202020204" pitchFamily="34" charset="0"/>
                <a:ea typeface="Arial" panose="020B0604020202020204" pitchFamily="34" charset="0"/>
              </a:rPr>
              <a:t>As the system and the privacy of users' data, whether passengers or drivers, while ensuring data quality, especially during training periods. It is also characterized by its availability to issue alerts and important updates to the school, which helps students and drivers stay informed. </a:t>
            </a:r>
            <a:endParaRPr lang="en-US" sz="1200">
              <a:latin typeface="Arial" panose="020B0604020202020204" pitchFamily="34" charset="0"/>
              <a:ea typeface="Arial" panose="020B0604020202020204" pitchFamily="34" charset="0"/>
            </a:endParaRPr>
          </a:p>
          <a:p>
            <a:endParaRPr lang="en-US" sz="800">
              <a:effectLst/>
              <a:latin typeface="Arial" panose="020B0604020202020204" pitchFamily="34" charset="0"/>
              <a:ea typeface="Arial" panose="020B0604020202020204" pitchFamily="34" charset="0"/>
            </a:endParaRPr>
          </a:p>
          <a:p>
            <a:r>
              <a:rPr lang="en-GB" sz="1200">
                <a:effectLst/>
                <a:latin typeface="Arial" panose="020B0604020202020204" pitchFamily="34" charset="0"/>
                <a:ea typeface="Arial" panose="020B0604020202020204" pitchFamily="34" charset="0"/>
              </a:rPr>
              <a:t>The project relies on modern and advanced technologies in the field of transportation, such as monitoring performance and issuing comprehensive reports on drivers and buses. Through this integration, Safe Bus System contributes to the specified time, allows management of what is inside, in addition to an organized transportation experience and campus </a:t>
            </a:r>
            <a:r>
              <a:rPr lang="en-GB" sz="1200" err="1">
                <a:effectLst/>
                <a:latin typeface="Arial" panose="020B0604020202020204" pitchFamily="34" charset="0"/>
                <a:ea typeface="Arial" panose="020B0604020202020204" pitchFamily="34" charset="0"/>
              </a:rPr>
              <a:t>campus</a:t>
            </a:r>
            <a:r>
              <a:rPr lang="en-GB" sz="1200">
                <a:effectLst/>
                <a:latin typeface="Arial" panose="020B0604020202020204" pitchFamily="34" charset="0"/>
                <a:ea typeface="Arial" panose="020B0604020202020204" pitchFamily="34" charset="0"/>
              </a:rPr>
              <a:t>, making it an ideal solution for universities where its services are available.</a:t>
            </a:r>
            <a:endParaRPr lang="en-US" sz="1200">
              <a:effectLst/>
              <a:latin typeface="Arial" panose="020B0604020202020204" pitchFamily="34" charset="0"/>
              <a:ea typeface="Arial" panose="020B0604020202020204" pitchFamily="34" charset="0"/>
            </a:endParaRPr>
          </a:p>
          <a:p>
            <a:r>
              <a:rPr lang="en-GB" sz="1200">
                <a:solidFill>
                  <a:srgbClr val="0C343D"/>
                </a:solidFill>
                <a:effectLst/>
                <a:latin typeface="Arial" panose="020B0604020202020204" pitchFamily="34" charset="0"/>
                <a:ea typeface="Arial" panose="020B0604020202020204" pitchFamily="34" charset="0"/>
              </a:rPr>
              <a:t> </a:t>
            </a:r>
            <a:endParaRPr lang="en-US" sz="1200">
              <a:solidFill>
                <a:srgbClr val="0C343D"/>
              </a:solidFill>
              <a:effectLst/>
              <a:latin typeface="Arial" panose="020B0604020202020204" pitchFamily="34" charset="0"/>
              <a:ea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fld id="{12249B99-78A9-41F4-8EB4-7ECE12D95B3D}" type="slidenum">
              <a:rPr lang="en-US" smtClean="0"/>
              <a:t>4</a:t>
            </a:fld>
            <a:endParaRPr lang="en-US"/>
          </a:p>
        </p:txBody>
      </p:sp>
    </p:spTree>
    <p:extLst>
      <p:ext uri="{BB962C8B-B14F-4D97-AF65-F5344CB8AC3E}">
        <p14:creationId xmlns:p14="http://schemas.microsoft.com/office/powerpoint/2010/main" val="4092728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620" y="5298440"/>
            <a:ext cx="10055781" cy="3784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5243406"/>
            <a:ext cx="10055781" cy="52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905256" y="628244"/>
            <a:ext cx="8298180" cy="2951988"/>
          </a:xfrm>
        </p:spPr>
        <p:txBody>
          <a:bodyPr anchor="b">
            <a:normAutofit/>
          </a:bodyPr>
          <a:lstStyle>
            <a:lvl1pPr algn="l">
              <a:lnSpc>
                <a:spcPct val="85000"/>
              </a:lnSpc>
              <a:defRPr sz="6600" spc="-41"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907542" y="3688264"/>
            <a:ext cx="8298180" cy="946150"/>
          </a:xfrm>
        </p:spPr>
        <p:txBody>
          <a:bodyPr lIns="91440" rIns="91440">
            <a:normAutofit/>
          </a:bodyPr>
          <a:lstStyle>
            <a:lvl1pPr marL="0" indent="0" algn="l">
              <a:buNone/>
              <a:defRPr sz="1980" cap="all" spc="165" baseline="0">
                <a:solidFill>
                  <a:schemeClr val="tx2"/>
                </a:solidFill>
                <a:latin typeface="+mj-lt"/>
              </a:defRPr>
            </a:lvl1pPr>
            <a:lvl2pPr marL="377190" indent="0" algn="ctr">
              <a:buNone/>
              <a:defRPr sz="1980"/>
            </a:lvl2pPr>
            <a:lvl3pPr marL="754380" indent="0" algn="ctr">
              <a:buNone/>
              <a:defRPr sz="1980"/>
            </a:lvl3pPr>
            <a:lvl4pPr marL="1131570" indent="0" algn="ctr">
              <a:buNone/>
              <a:defRPr sz="1650"/>
            </a:lvl4pPr>
            <a:lvl5pPr marL="1508760" indent="0" algn="ctr">
              <a:buNone/>
              <a:defRPr sz="1650"/>
            </a:lvl5pPr>
            <a:lvl6pPr marL="1885950" indent="0" algn="ctr">
              <a:buNone/>
              <a:defRPr sz="1650"/>
            </a:lvl6pPr>
            <a:lvl7pPr marL="2263140" indent="0" algn="ctr">
              <a:buNone/>
              <a:defRPr sz="1650"/>
            </a:lvl7pPr>
            <a:lvl8pPr marL="2640330" indent="0" algn="ctr">
              <a:buNone/>
              <a:defRPr sz="1650"/>
            </a:lvl8pPr>
            <a:lvl9pPr marL="3017520" indent="0" algn="ctr">
              <a:buNone/>
              <a:defRPr sz="16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12/4/24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996318" y="3595370"/>
            <a:ext cx="814730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2836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12/4/24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56205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620" y="5298440"/>
            <a:ext cx="10055781" cy="3784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5243406"/>
            <a:ext cx="10055781" cy="52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05256" y="628244"/>
            <a:ext cx="8298180" cy="2951988"/>
          </a:xfrm>
        </p:spPr>
        <p:txBody>
          <a:bodyPr anchor="b" anchorCtr="0">
            <a:normAutofit/>
          </a:bodyPr>
          <a:lstStyle>
            <a:lvl1pPr>
              <a:lnSpc>
                <a:spcPct val="85000"/>
              </a:lnSpc>
              <a:defRPr sz="66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905256" y="3686200"/>
            <a:ext cx="8298180" cy="946150"/>
          </a:xfrm>
        </p:spPr>
        <p:txBody>
          <a:bodyPr lIns="91440" rIns="91440" anchor="t" anchorCtr="0">
            <a:normAutofit/>
          </a:bodyPr>
          <a:lstStyle>
            <a:lvl1pPr marL="0" indent="0">
              <a:buNone/>
              <a:defRPr sz="1980" cap="all" spc="165" baseline="0">
                <a:solidFill>
                  <a:schemeClr val="tx2"/>
                </a:solidFill>
                <a:latin typeface="+mj-lt"/>
              </a:defRPr>
            </a:lvl1pPr>
            <a:lvl2pPr marL="377190" indent="0">
              <a:buNone/>
              <a:defRPr sz="1485">
                <a:solidFill>
                  <a:schemeClr val="tx1">
                    <a:tint val="75000"/>
                  </a:schemeClr>
                </a:solidFill>
              </a:defRPr>
            </a:lvl2pPr>
            <a:lvl3pPr marL="754380" indent="0">
              <a:buNone/>
              <a:defRPr sz="1320">
                <a:solidFill>
                  <a:schemeClr val="tx1">
                    <a:tint val="75000"/>
                  </a:schemeClr>
                </a:solidFill>
              </a:defRPr>
            </a:lvl3pPr>
            <a:lvl4pPr marL="1131570" indent="0">
              <a:buNone/>
              <a:defRPr sz="1155">
                <a:solidFill>
                  <a:schemeClr val="tx1">
                    <a:tint val="75000"/>
                  </a:schemeClr>
                </a:solidFill>
              </a:defRPr>
            </a:lvl4pPr>
            <a:lvl5pPr marL="1508760" indent="0">
              <a:buNone/>
              <a:defRPr sz="1155">
                <a:solidFill>
                  <a:schemeClr val="tx1">
                    <a:tint val="75000"/>
                  </a:schemeClr>
                </a:solidFill>
              </a:defRPr>
            </a:lvl5pPr>
            <a:lvl6pPr marL="1885950" indent="0">
              <a:buNone/>
              <a:defRPr sz="1155">
                <a:solidFill>
                  <a:schemeClr val="tx1">
                    <a:tint val="75000"/>
                  </a:schemeClr>
                </a:solidFill>
              </a:defRPr>
            </a:lvl6pPr>
            <a:lvl7pPr marL="2263140" indent="0">
              <a:buNone/>
              <a:defRPr sz="1155">
                <a:solidFill>
                  <a:schemeClr val="tx1">
                    <a:tint val="75000"/>
                  </a:schemeClr>
                </a:solidFill>
              </a:defRPr>
            </a:lvl7pPr>
            <a:lvl8pPr marL="2640330" indent="0">
              <a:buNone/>
              <a:defRPr sz="1155">
                <a:solidFill>
                  <a:schemeClr val="tx1">
                    <a:tint val="75000"/>
                  </a:schemeClr>
                </a:solidFill>
              </a:defRPr>
            </a:lvl8pPr>
            <a:lvl9pPr marL="3017520" indent="0">
              <a:buNone/>
              <a:defRPr sz="115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12/4/24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996318" y="3595370"/>
            <a:ext cx="8147304"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3559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905256" y="237244"/>
            <a:ext cx="8298180" cy="1200904"/>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05254" y="1527858"/>
            <a:ext cx="4073652" cy="3330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29784" y="1527858"/>
            <a:ext cx="4073652" cy="3330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12/4/24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7335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905256" y="237244"/>
            <a:ext cx="8298180" cy="1200904"/>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5256" y="1528121"/>
            <a:ext cx="4073652" cy="609478"/>
          </a:xfrm>
        </p:spPr>
        <p:txBody>
          <a:bodyPr lIns="91440" rIns="91440" anchor="ctr">
            <a:normAutofit/>
          </a:bodyPr>
          <a:lstStyle>
            <a:lvl1pPr marL="0" indent="0">
              <a:buNone/>
              <a:defRPr sz="1650" b="0" cap="all" baseline="0">
                <a:solidFill>
                  <a:schemeClr val="tx2"/>
                </a:solidFill>
              </a:defRPr>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4" name="Content Placeholder 3"/>
          <p:cNvSpPr>
            <a:spLocks noGrp="1"/>
          </p:cNvSpPr>
          <p:nvPr>
            <p:ph sz="half" idx="2"/>
          </p:nvPr>
        </p:nvSpPr>
        <p:spPr>
          <a:xfrm>
            <a:off x="905256" y="2137599"/>
            <a:ext cx="4073652" cy="2796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29784" y="1528121"/>
            <a:ext cx="4073652" cy="609478"/>
          </a:xfrm>
        </p:spPr>
        <p:txBody>
          <a:bodyPr lIns="91440" rIns="91440" anchor="ctr">
            <a:normAutofit/>
          </a:bodyPr>
          <a:lstStyle>
            <a:lvl1pPr marL="0" indent="0">
              <a:buNone/>
              <a:defRPr sz="1650" b="0" cap="all" baseline="0">
                <a:solidFill>
                  <a:schemeClr val="tx2"/>
                </a:solidFill>
              </a:defRPr>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6" name="Content Placeholder 5"/>
          <p:cNvSpPr>
            <a:spLocks noGrp="1"/>
          </p:cNvSpPr>
          <p:nvPr>
            <p:ph sz="quarter" idx="4"/>
          </p:nvPr>
        </p:nvSpPr>
        <p:spPr>
          <a:xfrm>
            <a:off x="5129784" y="2137599"/>
            <a:ext cx="4073652" cy="2796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12/4/24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24213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12/4/24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756091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620" y="5298440"/>
            <a:ext cx="10055781" cy="3784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5243406"/>
            <a:ext cx="10055781" cy="52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6E91E96-98B0-4413-9547-46F3504108EF}" type="datetimeFigureOut">
              <a:rPr lang="en-US" smtClean="0"/>
              <a:t>12/4/24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45000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341903" cy="5676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333058" y="0"/>
            <a:ext cx="52807" cy="56769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77190" y="491997"/>
            <a:ext cx="2640330" cy="1892300"/>
          </a:xfrm>
        </p:spPr>
        <p:txBody>
          <a:bodyPr anchor="b">
            <a:normAutofit/>
          </a:bodyPr>
          <a:lstStyle>
            <a:lvl1pPr>
              <a:defRPr sz="297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960495" y="605536"/>
            <a:ext cx="5356098" cy="43522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77190" y="2422144"/>
            <a:ext cx="2640330" cy="2797164"/>
          </a:xfrm>
        </p:spPr>
        <p:txBody>
          <a:bodyPr lIns="91440" rIns="91440">
            <a:normAutofit/>
          </a:bodyPr>
          <a:lstStyle>
            <a:lvl1pPr marL="0" indent="0">
              <a:buNone/>
              <a:defRPr sz="1238">
                <a:solidFill>
                  <a:srgbClr val="FFFFFF"/>
                </a:solidFill>
              </a:defRPr>
            </a:lvl1pPr>
            <a:lvl2pPr marL="377190" indent="0">
              <a:buNone/>
              <a:defRPr sz="990"/>
            </a:lvl2pPr>
            <a:lvl3pPr marL="754380" indent="0">
              <a:buNone/>
              <a:defRPr sz="825"/>
            </a:lvl3pPr>
            <a:lvl4pPr marL="1131570" indent="0">
              <a:buNone/>
              <a:defRPr sz="743"/>
            </a:lvl4pPr>
            <a:lvl5pPr marL="1508760" indent="0">
              <a:buNone/>
              <a:defRPr sz="743"/>
            </a:lvl5pPr>
            <a:lvl6pPr marL="1885950" indent="0">
              <a:buNone/>
              <a:defRPr sz="743"/>
            </a:lvl6pPr>
            <a:lvl7pPr marL="2263140" indent="0">
              <a:buNone/>
              <a:defRPr sz="743"/>
            </a:lvl7pPr>
            <a:lvl8pPr marL="2640330" indent="0">
              <a:buNone/>
              <a:defRPr sz="743"/>
            </a:lvl8pPr>
            <a:lvl9pPr marL="3017520" indent="0">
              <a:buNone/>
              <a:defRPr sz="743"/>
            </a:lvl9pPr>
          </a:lstStyle>
          <a:p>
            <a:pPr lvl="0"/>
            <a:r>
              <a:rPr lang="en-US"/>
              <a:t>Click to edit Master text styles</a:t>
            </a:r>
          </a:p>
        </p:txBody>
      </p:sp>
      <p:sp>
        <p:nvSpPr>
          <p:cNvPr id="5" name="Date Placeholder 4"/>
          <p:cNvSpPr>
            <a:spLocks noGrp="1"/>
          </p:cNvSpPr>
          <p:nvPr>
            <p:ph type="dt" sz="half" idx="10"/>
          </p:nvPr>
        </p:nvSpPr>
        <p:spPr>
          <a:xfrm>
            <a:off x="384047" y="5347267"/>
            <a:ext cx="2160271" cy="302242"/>
          </a:xfrm>
        </p:spPr>
        <p:txBody>
          <a:bodyPr/>
          <a:lstStyle>
            <a:lvl1pPr algn="l">
              <a:defRPr/>
            </a:lvl1pPr>
          </a:lstStyle>
          <a:p>
            <a:fld id="{05C68B11-C5A8-448C-8CE9-B1A273C79CFC}" type="datetimeFigureOut">
              <a:rPr lang="en-US" smtClean="0"/>
              <a:t>12/4/24</a:t>
            </a:fld>
            <a:endParaRPr lang="en-US" dirty="0"/>
          </a:p>
        </p:txBody>
      </p:sp>
      <p:sp>
        <p:nvSpPr>
          <p:cNvPr id="6" name="Footer Placeholder 5"/>
          <p:cNvSpPr>
            <a:spLocks noGrp="1"/>
          </p:cNvSpPr>
          <p:nvPr>
            <p:ph type="ftr" sz="quarter" idx="11"/>
          </p:nvPr>
        </p:nvSpPr>
        <p:spPr>
          <a:xfrm>
            <a:off x="3960495" y="5347267"/>
            <a:ext cx="3834765" cy="302242"/>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3976661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099983"/>
            <a:ext cx="10055781" cy="157691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4068591"/>
            <a:ext cx="10055781" cy="52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05256" y="4200906"/>
            <a:ext cx="8343757" cy="681228"/>
          </a:xfrm>
        </p:spPr>
        <p:txBody>
          <a:bodyPr lIns="91440" tIns="0" rIns="91440" bIns="0" anchor="b">
            <a:noAutofit/>
          </a:bodyPr>
          <a:lstStyle>
            <a:lvl1pPr>
              <a:defRPr sz="297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3" y="0"/>
            <a:ext cx="10058388" cy="4068591"/>
          </a:xfrm>
          <a:solidFill>
            <a:schemeClr val="bg2">
              <a:lumMod val="90000"/>
            </a:schemeClr>
          </a:solidFill>
        </p:spPr>
        <p:txBody>
          <a:bodyPr lIns="457200" tIns="457200" anchor="t"/>
          <a:lstStyle>
            <a:lvl1pPr marL="0" indent="0">
              <a:buNone/>
              <a:defRPr sz="264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r>
              <a:rPr lang="en-US"/>
              <a:t>Click icon to add picture</a:t>
            </a:r>
            <a:endParaRPr lang="en-US" dirty="0"/>
          </a:p>
        </p:txBody>
      </p:sp>
      <p:sp>
        <p:nvSpPr>
          <p:cNvPr id="4" name="Text Placeholder 3"/>
          <p:cNvSpPr>
            <a:spLocks noGrp="1"/>
          </p:cNvSpPr>
          <p:nvPr>
            <p:ph type="body" sz="half" idx="2"/>
          </p:nvPr>
        </p:nvSpPr>
        <p:spPr>
          <a:xfrm>
            <a:off x="905256" y="4889703"/>
            <a:ext cx="8343443" cy="491998"/>
          </a:xfrm>
        </p:spPr>
        <p:txBody>
          <a:bodyPr lIns="91440" tIns="0" rIns="91440" bIns="0">
            <a:normAutofit/>
          </a:bodyPr>
          <a:lstStyle>
            <a:lvl1pPr marL="0" indent="0">
              <a:spcBef>
                <a:spcPts val="0"/>
              </a:spcBef>
              <a:spcAft>
                <a:spcPts val="495"/>
              </a:spcAft>
              <a:buNone/>
              <a:defRPr sz="1238">
                <a:solidFill>
                  <a:srgbClr val="FFFFFF"/>
                </a:solidFill>
              </a:defRPr>
            </a:lvl1pPr>
            <a:lvl2pPr marL="377190" indent="0">
              <a:buNone/>
              <a:defRPr sz="990"/>
            </a:lvl2pPr>
            <a:lvl3pPr marL="754380" indent="0">
              <a:buNone/>
              <a:defRPr sz="825"/>
            </a:lvl3pPr>
            <a:lvl4pPr marL="1131570" indent="0">
              <a:buNone/>
              <a:defRPr sz="743"/>
            </a:lvl4pPr>
            <a:lvl5pPr marL="1508760" indent="0">
              <a:buNone/>
              <a:defRPr sz="743"/>
            </a:lvl5pPr>
            <a:lvl6pPr marL="1885950" indent="0">
              <a:buNone/>
              <a:defRPr sz="743"/>
            </a:lvl6pPr>
            <a:lvl7pPr marL="2263140" indent="0">
              <a:buNone/>
              <a:defRPr sz="743"/>
            </a:lvl7pPr>
            <a:lvl8pPr marL="2640330" indent="0">
              <a:buNone/>
              <a:defRPr sz="743"/>
            </a:lvl8pPr>
            <a:lvl9pPr marL="3017520" indent="0">
              <a:buNone/>
              <a:defRPr sz="743"/>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12/4/24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3346572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12/4/24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89041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620" y="5298440"/>
            <a:ext cx="10055781" cy="3784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5243406"/>
            <a:ext cx="10055781" cy="52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198042" y="341294"/>
            <a:ext cx="2168843" cy="476791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341294"/>
            <a:ext cx="6380798" cy="4767916"/>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12/4/24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10126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5298440"/>
            <a:ext cx="10058400" cy="3784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5243406"/>
            <a:ext cx="10058388" cy="550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05256" y="237244"/>
            <a:ext cx="8298180" cy="120090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05256" y="1527858"/>
            <a:ext cx="8298180" cy="3330448"/>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5256" y="5347267"/>
            <a:ext cx="2039624" cy="302242"/>
          </a:xfrm>
          <a:prstGeom prst="rect">
            <a:avLst/>
          </a:prstGeom>
        </p:spPr>
        <p:txBody>
          <a:bodyPr vert="horz" lIns="91440" tIns="45720" rIns="91440" bIns="45720" rtlCol="0" anchor="ctr"/>
          <a:lstStyle>
            <a:lvl1pPr algn="l">
              <a:defRPr sz="743">
                <a:solidFill>
                  <a:srgbClr val="FFFFFF"/>
                </a:solidFill>
              </a:defRPr>
            </a:lvl1pPr>
          </a:lstStyle>
          <a:p>
            <a:fld id="{90298CD5-6C1E-4009-B41F-6DF62E31D3BE}" type="datetimeFigureOut">
              <a:rPr lang="en-US" smtClean="0"/>
              <a:pPr/>
              <a:t>12/4/24</a:t>
            </a:fld>
            <a:endParaRPr lang="en-US" dirty="0"/>
          </a:p>
        </p:txBody>
      </p:sp>
      <p:sp>
        <p:nvSpPr>
          <p:cNvPr id="5" name="Footer Placeholder 4"/>
          <p:cNvSpPr>
            <a:spLocks noGrp="1"/>
          </p:cNvSpPr>
          <p:nvPr>
            <p:ph type="ftr" sz="quarter" idx="3"/>
          </p:nvPr>
        </p:nvSpPr>
        <p:spPr>
          <a:xfrm>
            <a:off x="3041103" y="5347267"/>
            <a:ext cx="3978813" cy="302242"/>
          </a:xfrm>
          <a:prstGeom prst="rect">
            <a:avLst/>
          </a:prstGeom>
        </p:spPr>
        <p:txBody>
          <a:bodyPr vert="horz" lIns="91440" tIns="45720" rIns="91440" bIns="45720" rtlCol="0" anchor="ctr"/>
          <a:lstStyle>
            <a:lvl1pPr algn="ctr">
              <a:defRPr sz="743"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8167878" y="5347267"/>
            <a:ext cx="1082421" cy="302242"/>
          </a:xfrm>
          <a:prstGeom prst="rect">
            <a:avLst/>
          </a:prstGeom>
        </p:spPr>
        <p:txBody>
          <a:bodyPr vert="horz" lIns="91440" tIns="45720" rIns="91440" bIns="45720" rtlCol="0" anchor="ctr"/>
          <a:lstStyle>
            <a:lvl1pPr algn="r">
              <a:defRPr sz="866">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984664" y="1438549"/>
            <a:ext cx="822274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6560990"/>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754380" rtl="0" eaLnBrk="1" latinLnBrk="0" hangingPunct="1">
        <a:lnSpc>
          <a:spcPct val="85000"/>
        </a:lnSpc>
        <a:spcBef>
          <a:spcPct val="0"/>
        </a:spcBef>
        <a:buNone/>
        <a:defRPr sz="3960" kern="1200" spc="-41" baseline="0">
          <a:solidFill>
            <a:schemeClr val="tx1">
              <a:lumMod val="75000"/>
              <a:lumOff val="25000"/>
            </a:schemeClr>
          </a:solidFill>
          <a:latin typeface="+mj-lt"/>
          <a:ea typeface="+mj-ea"/>
          <a:cs typeface="+mj-cs"/>
        </a:defRPr>
      </a:lvl1pPr>
    </p:titleStyle>
    <p:bodyStyle>
      <a:lvl1pPr marL="75438" indent="-75438" algn="l" defTabSz="754380" rtl="0" eaLnBrk="1" latinLnBrk="0" hangingPunct="1">
        <a:lnSpc>
          <a:spcPct val="90000"/>
        </a:lnSpc>
        <a:spcBef>
          <a:spcPts val="990"/>
        </a:spcBef>
        <a:spcAft>
          <a:spcPts val="165"/>
        </a:spcAft>
        <a:buClr>
          <a:schemeClr val="accent1"/>
        </a:buClr>
        <a:buSzPct val="100000"/>
        <a:buFont typeface="Calibri" panose="020F0502020204030204" pitchFamily="34" charset="0"/>
        <a:buChar char=" "/>
        <a:defRPr sz="1650" kern="1200">
          <a:solidFill>
            <a:schemeClr val="tx1">
              <a:lumMod val="75000"/>
              <a:lumOff val="25000"/>
            </a:schemeClr>
          </a:solidFill>
          <a:latin typeface="+mn-lt"/>
          <a:ea typeface="+mn-ea"/>
          <a:cs typeface="+mn-cs"/>
        </a:defRPr>
      </a:lvl1pPr>
      <a:lvl2pPr marL="316840" indent="-150876" algn="l" defTabSz="754380" rtl="0" eaLnBrk="1" latinLnBrk="0" hangingPunct="1">
        <a:lnSpc>
          <a:spcPct val="90000"/>
        </a:lnSpc>
        <a:spcBef>
          <a:spcPts val="165"/>
        </a:spcBef>
        <a:spcAft>
          <a:spcPts val="330"/>
        </a:spcAft>
        <a:buClr>
          <a:schemeClr val="accent1"/>
        </a:buClr>
        <a:buFont typeface="Calibri" pitchFamily="34" charset="0"/>
        <a:buChar char="◦"/>
        <a:defRPr sz="1485" kern="1200">
          <a:solidFill>
            <a:schemeClr val="tx1">
              <a:lumMod val="75000"/>
              <a:lumOff val="25000"/>
            </a:schemeClr>
          </a:solidFill>
          <a:latin typeface="+mn-lt"/>
          <a:ea typeface="+mn-ea"/>
          <a:cs typeface="+mn-cs"/>
        </a:defRPr>
      </a:lvl2pPr>
      <a:lvl3pPr marL="467716" indent="-150876"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3pPr>
      <a:lvl4pPr marL="618592" indent="-150876"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4pPr>
      <a:lvl5pPr marL="769468" indent="-150876"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5pPr>
      <a:lvl6pPr marL="907500" indent="-188595"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6pPr>
      <a:lvl7pPr marL="1072500" indent="-188595"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7pPr>
      <a:lvl8pPr marL="1237500" indent="-188595"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8pPr>
      <a:lvl9pPr marL="1402500" indent="-188595" algn="l" defTabSz="754380" rtl="0" eaLnBrk="1" latinLnBrk="0" hangingPunct="1">
        <a:lnSpc>
          <a:spcPct val="90000"/>
        </a:lnSpc>
        <a:spcBef>
          <a:spcPts val="165"/>
        </a:spcBef>
        <a:spcAft>
          <a:spcPts val="330"/>
        </a:spcAft>
        <a:buClr>
          <a:schemeClr val="accent1"/>
        </a:buClr>
        <a:buFont typeface="Calibri" pitchFamily="34" charset="0"/>
        <a:buChar char="◦"/>
        <a:defRPr sz="1155" kern="1200">
          <a:solidFill>
            <a:schemeClr val="tx1">
              <a:lumMod val="75000"/>
              <a:lumOff val="25000"/>
            </a:schemeClr>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 Id="rId9"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emf"/></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row: Pentagon 3">
            <a:extLst>
              <a:ext uri="{FF2B5EF4-FFF2-40B4-BE49-F238E27FC236}">
                <a16:creationId xmlns:a16="http://schemas.microsoft.com/office/drawing/2014/main" id="{C2C261AE-1604-EB4D-8526-BEF95CDE3C1C}"/>
              </a:ext>
            </a:extLst>
          </p:cNvPr>
          <p:cNvSpPr/>
          <p:nvPr/>
        </p:nvSpPr>
        <p:spPr>
          <a:xfrm rot="10800000">
            <a:off x="3191690" y="1700348"/>
            <a:ext cx="6858000" cy="2209800"/>
          </a:xfrm>
          <a:prstGeom prst="homePlate">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Pentagon 4">
            <a:extLst>
              <a:ext uri="{FF2B5EF4-FFF2-40B4-BE49-F238E27FC236}">
                <a16:creationId xmlns:a16="http://schemas.microsoft.com/office/drawing/2014/main" id="{EC419150-825B-3250-551B-25004E2A6534}"/>
              </a:ext>
            </a:extLst>
          </p:cNvPr>
          <p:cNvSpPr/>
          <p:nvPr/>
        </p:nvSpPr>
        <p:spPr>
          <a:xfrm rot="10800000">
            <a:off x="7095309" y="1700346"/>
            <a:ext cx="2963091" cy="2209800"/>
          </a:xfrm>
          <a:prstGeom prst="homePlate">
            <a:avLst/>
          </a:prstGeom>
          <a:solidFill>
            <a:srgbClr val="00999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54504532-0C39-9F42-DA49-471F6550777F}"/>
              </a:ext>
            </a:extLst>
          </p:cNvPr>
          <p:cNvSpPr txBox="1"/>
          <p:nvPr/>
        </p:nvSpPr>
        <p:spPr>
          <a:xfrm>
            <a:off x="3886200" y="2053620"/>
            <a:ext cx="3657600" cy="1569660"/>
          </a:xfrm>
          <a:prstGeom prst="rect">
            <a:avLst/>
          </a:prstGeom>
          <a:noFill/>
        </p:spPr>
        <p:txBody>
          <a:bodyPr wrap="square" rtlCol="0">
            <a:spAutoFit/>
          </a:bodyPr>
          <a:lstStyle/>
          <a:p>
            <a:pPr algn="ctr"/>
            <a:r>
              <a:rPr lang="en-US" sz="4800" dirty="0">
                <a:solidFill>
                  <a:schemeClr val="bg1"/>
                </a:solidFill>
              </a:rPr>
              <a:t>Safe Bus System </a:t>
            </a:r>
            <a:endParaRPr lang="en-GB" sz="4800" dirty="0">
              <a:solidFill>
                <a:schemeClr val="bg1"/>
              </a:solidFill>
            </a:endParaRPr>
          </a:p>
        </p:txBody>
      </p:sp>
      <p:pic>
        <p:nvPicPr>
          <p:cNvPr id="7" name="image33.png">
            <a:extLst>
              <a:ext uri="{FF2B5EF4-FFF2-40B4-BE49-F238E27FC236}">
                <a16:creationId xmlns:a16="http://schemas.microsoft.com/office/drawing/2014/main" id="{AD0C34CB-0033-8CAC-E528-8D2CF8A8400E}"/>
              </a:ext>
            </a:extLst>
          </p:cNvPr>
          <p:cNvPicPr/>
          <p:nvPr/>
        </p:nvPicPr>
        <p:blipFill>
          <a:blip r:embed="rId2"/>
          <a:srcRect b="34258"/>
          <a:stretch>
            <a:fillRect/>
          </a:stretch>
        </p:blipFill>
        <p:spPr>
          <a:xfrm>
            <a:off x="8153400" y="1847850"/>
            <a:ext cx="1524000" cy="866020"/>
          </a:xfrm>
          <a:prstGeom prst="rect">
            <a:avLst/>
          </a:prstGeom>
          <a:ln/>
        </p:spPr>
      </p:pic>
      <p:sp>
        <p:nvSpPr>
          <p:cNvPr id="8" name="TextBox 7">
            <a:extLst>
              <a:ext uri="{FF2B5EF4-FFF2-40B4-BE49-F238E27FC236}">
                <a16:creationId xmlns:a16="http://schemas.microsoft.com/office/drawing/2014/main" id="{6970C79D-236A-D045-36ED-F8344792662C}"/>
              </a:ext>
            </a:extLst>
          </p:cNvPr>
          <p:cNvSpPr txBox="1"/>
          <p:nvPr/>
        </p:nvSpPr>
        <p:spPr>
          <a:xfrm>
            <a:off x="7354389" y="2713872"/>
            <a:ext cx="2819400" cy="1138773"/>
          </a:xfrm>
          <a:prstGeom prst="rect">
            <a:avLst/>
          </a:prstGeom>
          <a:noFill/>
        </p:spPr>
        <p:txBody>
          <a:bodyPr wrap="square" rtlCol="0">
            <a:spAutoFit/>
          </a:bodyPr>
          <a:lstStyle/>
          <a:p>
            <a:pPr marL="0" marR="0" algn="ctr"/>
            <a:r>
              <a:rPr lang="en-GB" sz="1800" b="1">
                <a:solidFill>
                  <a:srgbClr val="FFFFFF"/>
                </a:solidFill>
                <a:effectLst/>
                <a:latin typeface="Arial" panose="020B0604020202020204" pitchFamily="34" charset="0"/>
                <a:ea typeface="Arial" panose="020B0604020202020204" pitchFamily="34" charset="0"/>
              </a:rPr>
              <a:t>School of Business</a:t>
            </a:r>
            <a:endParaRPr lang="en-GB" sz="1800">
              <a:solidFill>
                <a:srgbClr val="0C343D"/>
              </a:solidFill>
              <a:effectLst/>
              <a:latin typeface="Arial" panose="020B0604020202020204" pitchFamily="34" charset="0"/>
              <a:ea typeface="Arial" panose="020B0604020202020204" pitchFamily="34" charset="0"/>
            </a:endParaRPr>
          </a:p>
          <a:p>
            <a:pPr marL="0" marR="0" algn="ctr"/>
            <a:r>
              <a:rPr lang="en-GB" sz="1600">
                <a:solidFill>
                  <a:srgbClr val="FFFFFF"/>
                </a:solidFill>
                <a:effectLst/>
                <a:latin typeface="Arial" panose="020B0604020202020204" pitchFamily="34" charset="0"/>
                <a:ea typeface="Arial" panose="020B0604020202020204" pitchFamily="34" charset="0"/>
              </a:rPr>
              <a:t>Management Information System Department</a:t>
            </a:r>
            <a:endParaRPr lang="en-GB" sz="1600">
              <a:solidFill>
                <a:srgbClr val="0C343D"/>
              </a:solidFill>
              <a:effectLst/>
              <a:latin typeface="Arial" panose="020B0604020202020204" pitchFamily="34" charset="0"/>
              <a:ea typeface="Arial" panose="020B0604020202020204" pitchFamily="34" charset="0"/>
            </a:endParaRPr>
          </a:p>
          <a:p>
            <a:endParaRPr lang="en-GB"/>
          </a:p>
        </p:txBody>
      </p:sp>
      <p:pic>
        <p:nvPicPr>
          <p:cNvPr id="1026" name="Picture 2">
            <a:extLst>
              <a:ext uri="{FF2B5EF4-FFF2-40B4-BE49-F238E27FC236}">
                <a16:creationId xmlns:a16="http://schemas.microsoft.com/office/drawing/2014/main" id="{C37BD46E-4B55-4C9F-9333-160F705CE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35" y="1847850"/>
            <a:ext cx="2143125" cy="21431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4F548F1-3E59-2BB1-09BF-E3D3E0C3786B}"/>
              </a:ext>
            </a:extLst>
          </p:cNvPr>
          <p:cNvSpPr txBox="1"/>
          <p:nvPr/>
        </p:nvSpPr>
        <p:spPr>
          <a:xfrm>
            <a:off x="-856320" y="3990975"/>
            <a:ext cx="5088834" cy="369332"/>
          </a:xfrm>
          <a:prstGeom prst="rect">
            <a:avLst/>
          </a:prstGeom>
          <a:noFill/>
        </p:spPr>
        <p:txBody>
          <a:bodyPr wrap="square">
            <a:spAutoFit/>
          </a:bodyPr>
          <a:lstStyle/>
          <a:p>
            <a:pPr algn="ctr"/>
            <a:r>
              <a:rPr lang="en-US" sz="1800"/>
              <a:t>Safe Bus System </a:t>
            </a:r>
            <a:endParaRPr lang="en-GB" sz="180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Pentagon 2">
            <a:extLst>
              <a:ext uri="{FF2B5EF4-FFF2-40B4-BE49-F238E27FC236}">
                <a16:creationId xmlns:a16="http://schemas.microsoft.com/office/drawing/2014/main" id="{7DE28742-A20E-16DB-D2FC-552B54F34F17}"/>
              </a:ext>
            </a:extLst>
          </p:cNvPr>
          <p:cNvSpPr/>
          <p:nvPr/>
        </p:nvSpPr>
        <p:spPr>
          <a:xfrm rot="10800000">
            <a:off x="3200400" y="1652450"/>
            <a:ext cx="6858000" cy="2209800"/>
          </a:xfrm>
          <a:prstGeom prst="homePlate">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BD3F282E-94D7-805C-8C07-02CE7DE9D63A}"/>
              </a:ext>
            </a:extLst>
          </p:cNvPr>
          <p:cNvSpPr txBox="1"/>
          <p:nvPr/>
        </p:nvSpPr>
        <p:spPr>
          <a:xfrm>
            <a:off x="3798602" y="1972518"/>
            <a:ext cx="3159034" cy="1569660"/>
          </a:xfrm>
          <a:prstGeom prst="rect">
            <a:avLst/>
          </a:prstGeom>
          <a:noFill/>
        </p:spPr>
        <p:txBody>
          <a:bodyPr wrap="square" rtlCol="0">
            <a:spAutoFit/>
          </a:bodyPr>
          <a:lstStyle/>
          <a:p>
            <a:pPr algn="ctr"/>
            <a:r>
              <a:rPr lang="en-US" sz="4800" dirty="0">
                <a:solidFill>
                  <a:schemeClr val="bg1"/>
                </a:solidFill>
              </a:rPr>
              <a:t>Safe Bus System </a:t>
            </a:r>
            <a:endParaRPr lang="en-GB" sz="4800" dirty="0">
              <a:solidFill>
                <a:schemeClr val="bg1"/>
              </a:solidFill>
            </a:endParaRPr>
          </a:p>
        </p:txBody>
      </p:sp>
      <p:pic>
        <p:nvPicPr>
          <p:cNvPr id="15" name="Picture 14">
            <a:extLst>
              <a:ext uri="{FF2B5EF4-FFF2-40B4-BE49-F238E27FC236}">
                <a16:creationId xmlns:a16="http://schemas.microsoft.com/office/drawing/2014/main" id="{EDFA1A91-A16E-03E4-CB61-76BAFA15AD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8034" y="1766749"/>
            <a:ext cx="3470366" cy="1981199"/>
          </a:xfrm>
          <a:prstGeom prst="rect">
            <a:avLst/>
          </a:prstGeom>
        </p:spPr>
      </p:pic>
      <p:sp>
        <p:nvSpPr>
          <p:cNvPr id="17" name="TextBox 16">
            <a:extLst>
              <a:ext uri="{FF2B5EF4-FFF2-40B4-BE49-F238E27FC236}">
                <a16:creationId xmlns:a16="http://schemas.microsoft.com/office/drawing/2014/main" id="{7E50D980-1E22-4D9D-E1A8-EA7EAD871204}"/>
              </a:ext>
            </a:extLst>
          </p:cNvPr>
          <p:cNvSpPr txBox="1"/>
          <p:nvPr/>
        </p:nvSpPr>
        <p:spPr>
          <a:xfrm>
            <a:off x="6957636" y="3101617"/>
            <a:ext cx="2535987" cy="646331"/>
          </a:xfrm>
          <a:prstGeom prst="rect">
            <a:avLst/>
          </a:prstGeom>
          <a:noFill/>
        </p:spPr>
        <p:txBody>
          <a:bodyPr wrap="square">
            <a:spAutoFit/>
          </a:bodyPr>
          <a:lstStyle/>
          <a:p>
            <a:pPr marL="0" marR="0" algn="ctr"/>
            <a:r>
              <a:rPr lang="en-GB" sz="1800" b="1" dirty="0">
                <a:solidFill>
                  <a:schemeClr val="bg1"/>
                </a:solidFill>
                <a:effectLst/>
                <a:latin typeface="Arial" panose="020B0604020202020204" pitchFamily="34" charset="0"/>
                <a:ea typeface="Arial" panose="020B0604020202020204" pitchFamily="34" charset="0"/>
              </a:rPr>
              <a:t>System Analysis</a:t>
            </a:r>
            <a:endParaRPr lang="en-GB" sz="1100" b="1" dirty="0">
              <a:solidFill>
                <a:schemeClr val="bg1"/>
              </a:solidFill>
              <a:effectLst/>
              <a:latin typeface="Arial" panose="020B0604020202020204" pitchFamily="34" charset="0"/>
              <a:ea typeface="Arial" panose="020B0604020202020204" pitchFamily="34" charset="0"/>
            </a:endParaRPr>
          </a:p>
          <a:p>
            <a:pPr marL="0" marR="0" algn="ctr"/>
            <a:r>
              <a:rPr lang="en-GB" sz="1800" b="1" dirty="0">
                <a:solidFill>
                  <a:schemeClr val="bg1"/>
                </a:solidFill>
                <a:effectLst/>
                <a:latin typeface="Arial" panose="020B0604020202020204" pitchFamily="34" charset="0"/>
                <a:ea typeface="Arial" panose="020B0604020202020204" pitchFamily="34" charset="0"/>
              </a:rPr>
              <a:t>&amp; Design</a:t>
            </a:r>
            <a:endParaRPr lang="en-GB" sz="1100" b="1" dirty="0">
              <a:solidFill>
                <a:schemeClr val="bg1"/>
              </a:solidFill>
              <a:effectLst/>
              <a:latin typeface="Arial" panose="020B0604020202020204" pitchFamily="34" charset="0"/>
              <a:ea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6201714" y="1853571"/>
            <a:ext cx="411242" cy="476987"/>
          </a:xfrm>
          <a:custGeom>
            <a:avLst/>
            <a:gdLst/>
            <a:ahLst/>
            <a:cxnLst/>
            <a:rect l="l" t="t" r="r" b="b"/>
            <a:pathLst>
              <a:path w="411242" h="476987">
                <a:moveTo>
                  <a:pt x="205621" y="0"/>
                </a:moveTo>
                <a:lnTo>
                  <a:pt x="0" y="102679"/>
                </a:lnTo>
                <a:lnTo>
                  <a:pt x="0" y="374046"/>
                </a:lnTo>
                <a:lnTo>
                  <a:pt x="205621" y="476987"/>
                </a:lnTo>
                <a:lnTo>
                  <a:pt x="411242" y="374046"/>
                </a:lnTo>
                <a:lnTo>
                  <a:pt x="411242" y="102679"/>
                </a:lnTo>
                <a:lnTo>
                  <a:pt x="205621" y="0"/>
                </a:lnTo>
                <a:close/>
              </a:path>
            </a:pathLst>
          </a:custGeom>
          <a:solidFill>
            <a:srgbClr val="025464"/>
          </a:solidFill>
        </p:spPr>
        <p:txBody>
          <a:bodyPr wrap="square" lIns="0" tIns="0" rIns="0" bIns="0" rtlCol="0">
            <a:noAutofit/>
          </a:bodyPr>
          <a:lstStyle/>
          <a:p>
            <a:endParaRPr/>
          </a:p>
        </p:txBody>
      </p:sp>
      <p:sp>
        <p:nvSpPr>
          <p:cNvPr id="29" name="object 29"/>
          <p:cNvSpPr/>
          <p:nvPr/>
        </p:nvSpPr>
        <p:spPr>
          <a:xfrm>
            <a:off x="6212895" y="2471936"/>
            <a:ext cx="411242" cy="476987"/>
          </a:xfrm>
          <a:custGeom>
            <a:avLst/>
            <a:gdLst/>
            <a:ahLst/>
            <a:cxnLst/>
            <a:rect l="l" t="t" r="r" b="b"/>
            <a:pathLst>
              <a:path w="411242" h="476987">
                <a:moveTo>
                  <a:pt x="205621" y="0"/>
                </a:moveTo>
                <a:lnTo>
                  <a:pt x="0" y="102679"/>
                </a:lnTo>
                <a:lnTo>
                  <a:pt x="0" y="374046"/>
                </a:lnTo>
                <a:lnTo>
                  <a:pt x="205621" y="476987"/>
                </a:lnTo>
                <a:lnTo>
                  <a:pt x="411242" y="374046"/>
                </a:lnTo>
                <a:lnTo>
                  <a:pt x="411242" y="102679"/>
                </a:lnTo>
                <a:lnTo>
                  <a:pt x="205621" y="0"/>
                </a:lnTo>
                <a:close/>
              </a:path>
            </a:pathLst>
          </a:custGeom>
          <a:solidFill>
            <a:srgbClr val="025464"/>
          </a:solidFill>
        </p:spPr>
        <p:txBody>
          <a:bodyPr wrap="square" lIns="0" tIns="0" rIns="0" bIns="0" rtlCol="0">
            <a:noAutofit/>
          </a:bodyPr>
          <a:lstStyle/>
          <a:p>
            <a:endParaRPr/>
          </a:p>
        </p:txBody>
      </p:sp>
      <p:sp>
        <p:nvSpPr>
          <p:cNvPr id="28" name="object 28"/>
          <p:cNvSpPr/>
          <p:nvPr/>
        </p:nvSpPr>
        <p:spPr>
          <a:xfrm>
            <a:off x="2466365" y="1785467"/>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27" name="object 27"/>
          <p:cNvSpPr/>
          <p:nvPr/>
        </p:nvSpPr>
        <p:spPr>
          <a:xfrm>
            <a:off x="6195167" y="1257934"/>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26" name="object 26"/>
          <p:cNvSpPr/>
          <p:nvPr/>
        </p:nvSpPr>
        <p:spPr>
          <a:xfrm>
            <a:off x="2476211" y="3098089"/>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25" name="object 25"/>
          <p:cNvSpPr/>
          <p:nvPr/>
        </p:nvSpPr>
        <p:spPr>
          <a:xfrm>
            <a:off x="6212896" y="3805240"/>
            <a:ext cx="411242" cy="476988"/>
          </a:xfrm>
          <a:custGeom>
            <a:avLst/>
            <a:gdLst/>
            <a:ahLst/>
            <a:cxnLst/>
            <a:rect l="l" t="t" r="r" b="b"/>
            <a:pathLst>
              <a:path w="411242" h="476988">
                <a:moveTo>
                  <a:pt x="205620" y="0"/>
                </a:moveTo>
                <a:lnTo>
                  <a:pt x="0" y="102679"/>
                </a:lnTo>
                <a:lnTo>
                  <a:pt x="0" y="374046"/>
                </a:lnTo>
                <a:lnTo>
                  <a:pt x="205620" y="476988"/>
                </a:lnTo>
                <a:lnTo>
                  <a:pt x="411242" y="374046"/>
                </a:lnTo>
                <a:lnTo>
                  <a:pt x="411242" y="102679"/>
                </a:lnTo>
                <a:lnTo>
                  <a:pt x="205620" y="0"/>
                </a:lnTo>
                <a:close/>
              </a:path>
            </a:pathLst>
          </a:custGeom>
          <a:solidFill>
            <a:srgbClr val="025464"/>
          </a:solidFill>
        </p:spPr>
        <p:txBody>
          <a:bodyPr wrap="square" lIns="0" tIns="0" rIns="0" bIns="0" rtlCol="0">
            <a:noAutofit/>
          </a:bodyPr>
          <a:lstStyle/>
          <a:p>
            <a:endParaRPr/>
          </a:p>
        </p:txBody>
      </p:sp>
      <p:sp>
        <p:nvSpPr>
          <p:cNvPr id="24" name="object 24"/>
          <p:cNvSpPr/>
          <p:nvPr/>
        </p:nvSpPr>
        <p:spPr>
          <a:xfrm>
            <a:off x="6206346" y="3152849"/>
            <a:ext cx="411242" cy="476988"/>
          </a:xfrm>
          <a:custGeom>
            <a:avLst/>
            <a:gdLst/>
            <a:ahLst/>
            <a:cxnLst/>
            <a:rect l="l" t="t" r="r" b="b"/>
            <a:pathLst>
              <a:path w="411242" h="476988">
                <a:moveTo>
                  <a:pt x="205620" y="0"/>
                </a:moveTo>
                <a:lnTo>
                  <a:pt x="0" y="102679"/>
                </a:lnTo>
                <a:lnTo>
                  <a:pt x="0" y="374046"/>
                </a:lnTo>
                <a:lnTo>
                  <a:pt x="205620" y="476988"/>
                </a:lnTo>
                <a:lnTo>
                  <a:pt x="411242" y="374046"/>
                </a:lnTo>
                <a:lnTo>
                  <a:pt x="411242" y="102679"/>
                </a:lnTo>
                <a:lnTo>
                  <a:pt x="205620" y="0"/>
                </a:lnTo>
                <a:close/>
              </a:path>
            </a:pathLst>
          </a:custGeom>
          <a:solidFill>
            <a:srgbClr val="025464"/>
          </a:solidFill>
        </p:spPr>
        <p:txBody>
          <a:bodyPr wrap="square" lIns="0" tIns="0" rIns="0" bIns="0" rtlCol="0">
            <a:noAutofit/>
          </a:bodyPr>
          <a:lstStyle/>
          <a:p>
            <a:endParaRPr/>
          </a:p>
        </p:txBody>
      </p:sp>
      <p:sp>
        <p:nvSpPr>
          <p:cNvPr id="23" name="object 23"/>
          <p:cNvSpPr/>
          <p:nvPr/>
        </p:nvSpPr>
        <p:spPr>
          <a:xfrm>
            <a:off x="2497680" y="2389889"/>
            <a:ext cx="411242" cy="476987"/>
          </a:xfrm>
          <a:custGeom>
            <a:avLst/>
            <a:gdLst/>
            <a:ahLst/>
            <a:cxnLst/>
            <a:rect l="l" t="t" r="r" b="b"/>
            <a:pathLst>
              <a:path w="411242" h="476987">
                <a:moveTo>
                  <a:pt x="205620" y="0"/>
                </a:moveTo>
                <a:lnTo>
                  <a:pt x="0" y="102679"/>
                </a:lnTo>
                <a:lnTo>
                  <a:pt x="0" y="374046"/>
                </a:lnTo>
                <a:lnTo>
                  <a:pt x="205620" y="476987"/>
                </a:lnTo>
                <a:lnTo>
                  <a:pt x="411242" y="374046"/>
                </a:lnTo>
                <a:lnTo>
                  <a:pt x="411242" y="102679"/>
                </a:lnTo>
                <a:lnTo>
                  <a:pt x="205620" y="0"/>
                </a:lnTo>
                <a:close/>
              </a:path>
            </a:pathLst>
          </a:custGeom>
          <a:solidFill>
            <a:srgbClr val="025464"/>
          </a:solidFill>
        </p:spPr>
        <p:txBody>
          <a:bodyPr wrap="square" lIns="0" tIns="0" rIns="0" bIns="0" rtlCol="0">
            <a:noAutofit/>
          </a:bodyPr>
          <a:lstStyle/>
          <a:p>
            <a:endParaRPr/>
          </a:p>
        </p:txBody>
      </p:sp>
      <p:sp>
        <p:nvSpPr>
          <p:cNvPr id="22" name="object 22"/>
          <p:cNvSpPr/>
          <p:nvPr/>
        </p:nvSpPr>
        <p:spPr>
          <a:xfrm>
            <a:off x="2523782" y="3782340"/>
            <a:ext cx="411242" cy="476988"/>
          </a:xfrm>
          <a:custGeom>
            <a:avLst/>
            <a:gdLst/>
            <a:ahLst/>
            <a:cxnLst/>
            <a:rect l="l" t="t" r="r" b="b"/>
            <a:pathLst>
              <a:path w="411242" h="476988">
                <a:moveTo>
                  <a:pt x="205621" y="0"/>
                </a:moveTo>
                <a:lnTo>
                  <a:pt x="0" y="102679"/>
                </a:lnTo>
                <a:lnTo>
                  <a:pt x="0" y="374046"/>
                </a:lnTo>
                <a:lnTo>
                  <a:pt x="205621" y="476988"/>
                </a:lnTo>
                <a:lnTo>
                  <a:pt x="411242" y="374046"/>
                </a:lnTo>
                <a:lnTo>
                  <a:pt x="411242" y="102679"/>
                </a:lnTo>
                <a:lnTo>
                  <a:pt x="205621" y="0"/>
                </a:lnTo>
                <a:close/>
              </a:path>
            </a:pathLst>
          </a:custGeom>
          <a:solidFill>
            <a:srgbClr val="025464"/>
          </a:solidFill>
        </p:spPr>
        <p:txBody>
          <a:bodyPr wrap="square" lIns="0" tIns="0" rIns="0" bIns="0" rtlCol="0">
            <a:noAutofit/>
          </a:bodyPr>
          <a:lstStyle/>
          <a:p>
            <a:endParaRPr/>
          </a:p>
        </p:txBody>
      </p:sp>
      <p:sp>
        <p:nvSpPr>
          <p:cNvPr id="21" name="object 21"/>
          <p:cNvSpPr txBox="1"/>
          <p:nvPr/>
        </p:nvSpPr>
        <p:spPr>
          <a:xfrm>
            <a:off x="6340012" y="1374269"/>
            <a:ext cx="195774" cy="266382"/>
          </a:xfrm>
          <a:prstGeom prst="rect">
            <a:avLst/>
          </a:prstGeom>
        </p:spPr>
        <p:txBody>
          <a:bodyPr wrap="square" lIns="0" tIns="0" rIns="0" bIns="0" rtlCol="0">
            <a:noAutofit/>
          </a:bodyPr>
          <a:lstStyle/>
          <a:p>
            <a:pPr marL="12700">
              <a:lnSpc>
                <a:spcPts val="1930"/>
              </a:lnSpc>
              <a:spcBef>
                <a:spcPts val="266"/>
              </a:spcBef>
            </a:pPr>
            <a:r>
              <a:rPr lang="ar-EG" sz="2850" spc="0" baseline="-7628">
                <a:solidFill>
                  <a:srgbClr val="D9D8D8"/>
                </a:solidFill>
                <a:latin typeface="Times New Roman"/>
                <a:cs typeface="Times New Roman"/>
              </a:rPr>
              <a:t>2</a:t>
            </a:r>
            <a:endParaRPr sz="1900">
              <a:latin typeface="Times New Roman"/>
              <a:cs typeface="Times New Roman"/>
            </a:endParaRPr>
          </a:p>
        </p:txBody>
      </p:sp>
      <p:sp>
        <p:nvSpPr>
          <p:cNvPr id="20" name="object 20"/>
          <p:cNvSpPr txBox="1"/>
          <p:nvPr/>
        </p:nvSpPr>
        <p:spPr>
          <a:xfrm>
            <a:off x="6333604" y="1933401"/>
            <a:ext cx="195774" cy="266382"/>
          </a:xfrm>
          <a:prstGeom prst="rect">
            <a:avLst/>
          </a:prstGeom>
        </p:spPr>
        <p:txBody>
          <a:bodyPr wrap="square" lIns="0" tIns="0" rIns="0" bIns="0" rtlCol="0">
            <a:noAutofit/>
          </a:bodyPr>
          <a:lstStyle/>
          <a:p>
            <a:pPr marL="12700">
              <a:lnSpc>
                <a:spcPts val="1930"/>
              </a:lnSpc>
              <a:spcBef>
                <a:spcPts val="266"/>
              </a:spcBef>
            </a:pPr>
            <a:r>
              <a:rPr lang="ar-EG" sz="2850" spc="0" baseline="-7628">
                <a:solidFill>
                  <a:srgbClr val="D9D8D8"/>
                </a:solidFill>
                <a:latin typeface="Times New Roman"/>
                <a:cs typeface="Times New Roman"/>
              </a:rPr>
              <a:t>4</a:t>
            </a:r>
            <a:endParaRPr sz="1900">
              <a:latin typeface="Times New Roman"/>
              <a:cs typeface="Times New Roman"/>
            </a:endParaRPr>
          </a:p>
        </p:txBody>
      </p:sp>
      <p:sp>
        <p:nvSpPr>
          <p:cNvPr id="19" name="object 19"/>
          <p:cNvSpPr txBox="1"/>
          <p:nvPr/>
        </p:nvSpPr>
        <p:spPr>
          <a:xfrm>
            <a:off x="6703198" y="1394894"/>
            <a:ext cx="1474979" cy="276975"/>
          </a:xfrm>
          <a:prstGeom prst="rect">
            <a:avLst/>
          </a:prstGeom>
        </p:spPr>
        <p:txBody>
          <a:bodyPr wrap="square" lIns="0" tIns="0" rIns="0" bIns="0" rtlCol="0">
            <a:noAutofit/>
          </a:bodyPr>
          <a:lstStyle/>
          <a:p>
            <a:pPr marL="12700">
              <a:lnSpc>
                <a:spcPts val="2060"/>
              </a:lnSpc>
              <a:spcBef>
                <a:spcPts val="103"/>
              </a:spcBef>
            </a:pPr>
            <a:r>
              <a:rPr sz="1950" spc="0">
                <a:solidFill>
                  <a:srgbClr val="025464"/>
                </a:solidFill>
                <a:latin typeface="Times New Roman"/>
                <a:cs typeface="Times New Roman"/>
              </a:rPr>
              <a:t>The</a:t>
            </a:r>
            <a:r>
              <a:rPr sz="1950" spc="412">
                <a:solidFill>
                  <a:srgbClr val="025464"/>
                </a:solidFill>
                <a:latin typeface="Times New Roman"/>
                <a:cs typeface="Times New Roman"/>
              </a:rPr>
              <a:t> </a:t>
            </a:r>
            <a:r>
              <a:rPr sz="1950" spc="0">
                <a:solidFill>
                  <a:srgbClr val="025464"/>
                </a:solidFill>
                <a:latin typeface="Times New Roman"/>
                <a:cs typeface="Times New Roman"/>
              </a:rPr>
              <a:t>problem</a:t>
            </a:r>
            <a:endParaRPr sz="1950">
              <a:latin typeface="Times New Roman"/>
              <a:cs typeface="Times New Roman"/>
            </a:endParaRPr>
          </a:p>
        </p:txBody>
      </p:sp>
      <p:sp>
        <p:nvSpPr>
          <p:cNvPr id="18" name="object 18"/>
          <p:cNvSpPr txBox="1"/>
          <p:nvPr/>
        </p:nvSpPr>
        <p:spPr>
          <a:xfrm>
            <a:off x="6703198" y="1997823"/>
            <a:ext cx="2129095" cy="258135"/>
          </a:xfrm>
          <a:prstGeom prst="rect">
            <a:avLst/>
          </a:prstGeom>
        </p:spPr>
        <p:txBody>
          <a:bodyPr wrap="square" lIns="0" tIns="0" rIns="0" bIns="0" rtlCol="0">
            <a:noAutofit/>
          </a:bodyPr>
          <a:lstStyle/>
          <a:p>
            <a:pPr marL="12700">
              <a:lnSpc>
                <a:spcPts val="1910"/>
              </a:lnSpc>
              <a:spcBef>
                <a:spcPts val="95"/>
              </a:spcBef>
            </a:pPr>
            <a:r>
              <a:rPr sz="1800" spc="0">
                <a:solidFill>
                  <a:srgbClr val="025464"/>
                </a:solidFill>
                <a:latin typeface="Times New Roman"/>
                <a:cs typeface="Times New Roman"/>
              </a:rPr>
              <a:t>Costs and </a:t>
            </a:r>
            <a:r>
              <a:rPr sz="1800" spc="13">
                <a:solidFill>
                  <a:srgbClr val="025464"/>
                </a:solidFill>
                <a:latin typeface="Times New Roman"/>
                <a:cs typeface="Times New Roman"/>
              </a:rPr>
              <a:t> </a:t>
            </a:r>
            <a:r>
              <a:rPr lang="en-US">
                <a:solidFill>
                  <a:srgbClr val="025464"/>
                </a:solidFill>
                <a:latin typeface="Times New Roman"/>
                <a:cs typeface="Times New Roman"/>
              </a:rPr>
              <a:t>F</a:t>
            </a:r>
            <a:r>
              <a:rPr sz="1800" spc="0">
                <a:solidFill>
                  <a:srgbClr val="025464"/>
                </a:solidFill>
                <a:latin typeface="Times New Roman"/>
                <a:cs typeface="Times New Roman"/>
              </a:rPr>
              <a:t>easibility</a:t>
            </a:r>
            <a:endParaRPr sz="1800">
              <a:latin typeface="Times New Roman"/>
              <a:cs typeface="Times New Roman"/>
            </a:endParaRPr>
          </a:p>
        </p:txBody>
      </p:sp>
      <p:sp>
        <p:nvSpPr>
          <p:cNvPr id="17" name="object 17"/>
          <p:cNvSpPr txBox="1"/>
          <p:nvPr/>
        </p:nvSpPr>
        <p:spPr>
          <a:xfrm>
            <a:off x="2586555" y="1940262"/>
            <a:ext cx="195774" cy="266382"/>
          </a:xfrm>
          <a:prstGeom prst="rect">
            <a:avLst/>
          </a:prstGeom>
        </p:spPr>
        <p:txBody>
          <a:bodyPr wrap="square" lIns="0" tIns="0" rIns="0" bIns="0" rtlCol="0">
            <a:noAutofit/>
          </a:bodyPr>
          <a:lstStyle/>
          <a:p>
            <a:pPr marL="12700">
              <a:lnSpc>
                <a:spcPts val="1930"/>
              </a:lnSpc>
              <a:spcBef>
                <a:spcPts val="266"/>
              </a:spcBef>
            </a:pPr>
            <a:r>
              <a:rPr lang="ar-EG" sz="2850" spc="0" baseline="-7628">
                <a:solidFill>
                  <a:srgbClr val="D9D8D8"/>
                </a:solidFill>
                <a:latin typeface="Times New Roman"/>
                <a:cs typeface="Times New Roman"/>
              </a:rPr>
              <a:t>3</a:t>
            </a:r>
            <a:endParaRPr sz="1900">
              <a:latin typeface="Times New Roman"/>
              <a:cs typeface="Times New Roman"/>
            </a:endParaRPr>
          </a:p>
        </p:txBody>
      </p:sp>
      <p:sp>
        <p:nvSpPr>
          <p:cNvPr id="16" name="object 16"/>
          <p:cNvSpPr txBox="1"/>
          <p:nvPr/>
        </p:nvSpPr>
        <p:spPr>
          <a:xfrm>
            <a:off x="6344785" y="2552550"/>
            <a:ext cx="195774" cy="266382"/>
          </a:xfrm>
          <a:prstGeom prst="rect">
            <a:avLst/>
          </a:prstGeom>
        </p:spPr>
        <p:txBody>
          <a:bodyPr wrap="square" lIns="0" tIns="0" rIns="0" bIns="0" rtlCol="0">
            <a:noAutofit/>
          </a:bodyPr>
          <a:lstStyle/>
          <a:p>
            <a:pPr marL="12700">
              <a:lnSpc>
                <a:spcPts val="1930"/>
              </a:lnSpc>
              <a:spcBef>
                <a:spcPts val="266"/>
              </a:spcBef>
            </a:pPr>
            <a:r>
              <a:rPr sz="2850" spc="0" baseline="-7628">
                <a:solidFill>
                  <a:srgbClr val="D9D8D8"/>
                </a:solidFill>
                <a:latin typeface="Times New Roman"/>
                <a:cs typeface="Times New Roman"/>
              </a:rPr>
              <a:t>6</a:t>
            </a:r>
            <a:endParaRPr sz="1900">
              <a:latin typeface="Times New Roman"/>
              <a:cs typeface="Times New Roman"/>
            </a:endParaRPr>
          </a:p>
        </p:txBody>
      </p:sp>
      <p:sp>
        <p:nvSpPr>
          <p:cNvPr id="15" name="object 15"/>
          <p:cNvSpPr txBox="1"/>
          <p:nvPr/>
        </p:nvSpPr>
        <p:spPr>
          <a:xfrm>
            <a:off x="3006114" y="1911032"/>
            <a:ext cx="2118320" cy="277013"/>
          </a:xfrm>
          <a:prstGeom prst="rect">
            <a:avLst/>
          </a:prstGeom>
        </p:spPr>
        <p:txBody>
          <a:bodyPr wrap="square" lIns="0" tIns="0" rIns="0" bIns="0" rtlCol="0">
            <a:noAutofit/>
          </a:bodyPr>
          <a:lstStyle/>
          <a:p>
            <a:pPr marL="12700">
              <a:lnSpc>
                <a:spcPts val="2060"/>
              </a:lnSpc>
              <a:spcBef>
                <a:spcPts val="103"/>
              </a:spcBef>
            </a:pPr>
            <a:r>
              <a:rPr sz="1950" spc="0">
                <a:solidFill>
                  <a:srgbClr val="025464"/>
                </a:solidFill>
                <a:latin typeface="Times New Roman"/>
                <a:cs typeface="Times New Roman"/>
              </a:rPr>
              <a:t>Proposed</a:t>
            </a:r>
            <a:r>
              <a:rPr sz="1950" spc="343">
                <a:solidFill>
                  <a:srgbClr val="025464"/>
                </a:solidFill>
                <a:latin typeface="Times New Roman"/>
                <a:cs typeface="Times New Roman"/>
              </a:rPr>
              <a:t> </a:t>
            </a:r>
            <a:r>
              <a:rPr sz="1950" spc="0">
                <a:solidFill>
                  <a:srgbClr val="025464"/>
                </a:solidFill>
                <a:latin typeface="Times New Roman"/>
                <a:cs typeface="Times New Roman"/>
              </a:rPr>
              <a:t>Solution</a:t>
            </a:r>
            <a:endParaRPr sz="1950">
              <a:latin typeface="Times New Roman"/>
              <a:cs typeface="Times New Roman"/>
            </a:endParaRPr>
          </a:p>
        </p:txBody>
      </p:sp>
      <p:sp>
        <p:nvSpPr>
          <p:cNvPr id="14" name="object 14"/>
          <p:cNvSpPr txBox="1"/>
          <p:nvPr/>
        </p:nvSpPr>
        <p:spPr>
          <a:xfrm>
            <a:off x="6714379" y="2601589"/>
            <a:ext cx="1824651" cy="276937"/>
          </a:xfrm>
          <a:prstGeom prst="rect">
            <a:avLst/>
          </a:prstGeom>
        </p:spPr>
        <p:txBody>
          <a:bodyPr wrap="square" lIns="0" tIns="0" rIns="0" bIns="0" rtlCol="0">
            <a:noAutofit/>
          </a:bodyPr>
          <a:lstStyle/>
          <a:p>
            <a:pPr marL="12700">
              <a:lnSpc>
                <a:spcPts val="2060"/>
              </a:lnSpc>
              <a:spcBef>
                <a:spcPts val="103"/>
              </a:spcBef>
            </a:pPr>
            <a:r>
              <a:rPr lang="en-US" sz="1950">
                <a:solidFill>
                  <a:srgbClr val="025464"/>
                </a:solidFill>
                <a:latin typeface="Times New Roman"/>
                <a:cs typeface="Times New Roman"/>
              </a:rPr>
              <a:t>Context Diagram</a:t>
            </a:r>
            <a:endParaRPr sz="1950">
              <a:latin typeface="Times New Roman"/>
              <a:cs typeface="Times New Roman"/>
            </a:endParaRPr>
          </a:p>
        </p:txBody>
      </p:sp>
      <p:sp>
        <p:nvSpPr>
          <p:cNvPr id="13" name="object 13"/>
          <p:cNvSpPr txBox="1"/>
          <p:nvPr/>
        </p:nvSpPr>
        <p:spPr>
          <a:xfrm>
            <a:off x="2608362" y="3165869"/>
            <a:ext cx="195774" cy="266382"/>
          </a:xfrm>
          <a:prstGeom prst="rect">
            <a:avLst/>
          </a:prstGeom>
        </p:spPr>
        <p:txBody>
          <a:bodyPr wrap="square" lIns="0" tIns="0" rIns="0" bIns="0" rtlCol="0">
            <a:noAutofit/>
          </a:bodyPr>
          <a:lstStyle/>
          <a:p>
            <a:pPr marL="12700">
              <a:lnSpc>
                <a:spcPts val="1930"/>
              </a:lnSpc>
              <a:spcBef>
                <a:spcPts val="266"/>
              </a:spcBef>
            </a:pPr>
            <a:r>
              <a:rPr sz="2850" spc="0" baseline="-7628">
                <a:solidFill>
                  <a:srgbClr val="D9D8D8"/>
                </a:solidFill>
                <a:latin typeface="Times New Roman"/>
                <a:cs typeface="Times New Roman"/>
              </a:rPr>
              <a:t>7</a:t>
            </a:r>
            <a:endParaRPr sz="1900">
              <a:latin typeface="Times New Roman"/>
              <a:cs typeface="Times New Roman"/>
            </a:endParaRPr>
          </a:p>
        </p:txBody>
      </p:sp>
      <p:sp>
        <p:nvSpPr>
          <p:cNvPr id="12" name="object 12"/>
          <p:cNvSpPr txBox="1"/>
          <p:nvPr/>
        </p:nvSpPr>
        <p:spPr>
          <a:xfrm>
            <a:off x="2629570" y="2469718"/>
            <a:ext cx="195774" cy="266382"/>
          </a:xfrm>
          <a:prstGeom prst="rect">
            <a:avLst/>
          </a:prstGeom>
        </p:spPr>
        <p:txBody>
          <a:bodyPr wrap="square" lIns="0" tIns="0" rIns="0" bIns="0" rtlCol="0">
            <a:noAutofit/>
          </a:bodyPr>
          <a:lstStyle/>
          <a:p>
            <a:pPr marL="12700">
              <a:lnSpc>
                <a:spcPts val="1930"/>
              </a:lnSpc>
              <a:spcBef>
                <a:spcPts val="266"/>
              </a:spcBef>
            </a:pPr>
            <a:r>
              <a:rPr lang="ar-EG" sz="2850" spc="0" baseline="-7628">
                <a:solidFill>
                  <a:srgbClr val="D9D8D8"/>
                </a:solidFill>
                <a:latin typeface="Times New Roman"/>
                <a:cs typeface="Times New Roman"/>
              </a:rPr>
              <a:t>5</a:t>
            </a:r>
            <a:endParaRPr sz="1900">
              <a:latin typeface="Times New Roman"/>
              <a:cs typeface="Times New Roman"/>
            </a:endParaRPr>
          </a:p>
        </p:txBody>
      </p:sp>
      <p:sp>
        <p:nvSpPr>
          <p:cNvPr id="11" name="object 11"/>
          <p:cNvSpPr txBox="1"/>
          <p:nvPr/>
        </p:nvSpPr>
        <p:spPr>
          <a:xfrm>
            <a:off x="3005713" y="2526853"/>
            <a:ext cx="1461350" cy="276968"/>
          </a:xfrm>
          <a:prstGeom prst="rect">
            <a:avLst/>
          </a:prstGeom>
        </p:spPr>
        <p:txBody>
          <a:bodyPr wrap="square" lIns="0" tIns="0" rIns="0" bIns="0" rtlCol="0">
            <a:noAutofit/>
          </a:bodyPr>
          <a:lstStyle/>
          <a:p>
            <a:pPr marL="12700">
              <a:lnSpc>
                <a:spcPts val="2060"/>
              </a:lnSpc>
              <a:spcBef>
                <a:spcPts val="103"/>
              </a:spcBef>
            </a:pPr>
            <a:r>
              <a:rPr sz="1950" spc="0">
                <a:solidFill>
                  <a:srgbClr val="025464"/>
                </a:solidFill>
                <a:latin typeface="Times New Roman"/>
                <a:cs typeface="Times New Roman"/>
              </a:rPr>
              <a:t>Added </a:t>
            </a:r>
            <a:r>
              <a:rPr sz="1950" spc="90">
                <a:solidFill>
                  <a:srgbClr val="025464"/>
                </a:solidFill>
                <a:latin typeface="Times New Roman"/>
                <a:cs typeface="Times New Roman"/>
              </a:rPr>
              <a:t> </a:t>
            </a:r>
            <a:r>
              <a:rPr sz="1950" spc="0">
                <a:solidFill>
                  <a:srgbClr val="025464"/>
                </a:solidFill>
                <a:latin typeface="Times New Roman"/>
                <a:cs typeface="Times New Roman"/>
              </a:rPr>
              <a:t>value</a:t>
            </a:r>
            <a:endParaRPr sz="1950">
              <a:latin typeface="Times New Roman"/>
              <a:cs typeface="Times New Roman"/>
            </a:endParaRPr>
          </a:p>
        </p:txBody>
      </p:sp>
      <p:sp>
        <p:nvSpPr>
          <p:cNvPr id="10" name="object 10"/>
          <p:cNvSpPr txBox="1"/>
          <p:nvPr/>
        </p:nvSpPr>
        <p:spPr>
          <a:xfrm>
            <a:off x="2977955" y="3234987"/>
            <a:ext cx="2203645" cy="340089"/>
          </a:xfrm>
          <a:prstGeom prst="rect">
            <a:avLst/>
          </a:prstGeom>
        </p:spPr>
        <p:txBody>
          <a:bodyPr wrap="square" lIns="0" tIns="0" rIns="0" bIns="0" rtlCol="0">
            <a:noAutofit/>
          </a:bodyPr>
          <a:lstStyle/>
          <a:p>
            <a:pPr marL="12700">
              <a:lnSpc>
                <a:spcPts val="2060"/>
              </a:lnSpc>
              <a:spcBef>
                <a:spcPts val="103"/>
              </a:spcBef>
            </a:pPr>
            <a:r>
              <a:rPr lang="en-US" sz="1950" spc="0">
                <a:solidFill>
                  <a:srgbClr val="025464"/>
                </a:solidFill>
                <a:latin typeface="Times New Roman"/>
                <a:cs typeface="Times New Roman"/>
              </a:rPr>
              <a:t>Data Flow Diagram</a:t>
            </a:r>
            <a:endParaRPr sz="1950">
              <a:latin typeface="Times New Roman"/>
              <a:cs typeface="Times New Roman"/>
            </a:endParaRPr>
          </a:p>
        </p:txBody>
      </p:sp>
      <p:sp>
        <p:nvSpPr>
          <p:cNvPr id="9" name="object 9"/>
          <p:cNvSpPr txBox="1"/>
          <p:nvPr/>
        </p:nvSpPr>
        <p:spPr>
          <a:xfrm>
            <a:off x="2655672" y="3850120"/>
            <a:ext cx="195774" cy="266382"/>
          </a:xfrm>
          <a:prstGeom prst="rect">
            <a:avLst/>
          </a:prstGeom>
        </p:spPr>
        <p:txBody>
          <a:bodyPr wrap="square" lIns="0" tIns="0" rIns="0" bIns="0" rtlCol="0">
            <a:noAutofit/>
          </a:bodyPr>
          <a:lstStyle/>
          <a:p>
            <a:pPr marL="12700">
              <a:lnSpc>
                <a:spcPts val="1930"/>
              </a:lnSpc>
              <a:spcBef>
                <a:spcPts val="266"/>
              </a:spcBef>
            </a:pPr>
            <a:r>
              <a:rPr lang="en-US" sz="2850" spc="0" baseline="-7628">
                <a:solidFill>
                  <a:srgbClr val="D9D8D8"/>
                </a:solidFill>
                <a:latin typeface="Times New Roman"/>
                <a:cs typeface="Times New Roman"/>
              </a:rPr>
              <a:t>9</a:t>
            </a:r>
            <a:endParaRPr sz="1900">
              <a:latin typeface="Times New Roman"/>
              <a:cs typeface="Times New Roman"/>
            </a:endParaRPr>
          </a:p>
        </p:txBody>
      </p:sp>
      <p:sp>
        <p:nvSpPr>
          <p:cNvPr id="8" name="object 8"/>
          <p:cNvSpPr txBox="1"/>
          <p:nvPr/>
        </p:nvSpPr>
        <p:spPr>
          <a:xfrm>
            <a:off x="6325925" y="3225082"/>
            <a:ext cx="195774" cy="266382"/>
          </a:xfrm>
          <a:prstGeom prst="rect">
            <a:avLst/>
          </a:prstGeom>
        </p:spPr>
        <p:txBody>
          <a:bodyPr wrap="square" lIns="0" tIns="0" rIns="0" bIns="0" rtlCol="0">
            <a:noAutofit/>
          </a:bodyPr>
          <a:lstStyle/>
          <a:p>
            <a:pPr marL="12700">
              <a:lnSpc>
                <a:spcPts val="1930"/>
              </a:lnSpc>
              <a:spcBef>
                <a:spcPts val="266"/>
              </a:spcBef>
            </a:pPr>
            <a:r>
              <a:rPr lang="en-US" sz="2850" spc="0" baseline="-7628">
                <a:solidFill>
                  <a:srgbClr val="D9D8D8"/>
                </a:solidFill>
                <a:latin typeface="Times New Roman"/>
                <a:cs typeface="Times New Roman"/>
              </a:rPr>
              <a:t>8</a:t>
            </a:r>
            <a:endParaRPr sz="1900">
              <a:latin typeface="Times New Roman"/>
              <a:cs typeface="Times New Roman"/>
            </a:endParaRPr>
          </a:p>
        </p:txBody>
      </p:sp>
      <p:sp>
        <p:nvSpPr>
          <p:cNvPr id="7" name="object 7"/>
          <p:cNvSpPr txBox="1"/>
          <p:nvPr/>
        </p:nvSpPr>
        <p:spPr>
          <a:xfrm>
            <a:off x="6714379" y="3282421"/>
            <a:ext cx="1503302" cy="277043"/>
          </a:xfrm>
          <a:prstGeom prst="rect">
            <a:avLst/>
          </a:prstGeom>
        </p:spPr>
        <p:txBody>
          <a:bodyPr wrap="square" lIns="0" tIns="0" rIns="0" bIns="0" rtlCol="0">
            <a:noAutofit/>
          </a:bodyPr>
          <a:lstStyle/>
          <a:p>
            <a:pPr marL="12700">
              <a:lnSpc>
                <a:spcPts val="2060"/>
              </a:lnSpc>
              <a:spcBef>
                <a:spcPts val="103"/>
              </a:spcBef>
            </a:pPr>
            <a:r>
              <a:rPr sz="1950" spc="0">
                <a:solidFill>
                  <a:srgbClr val="025464"/>
                </a:solidFill>
                <a:latin typeface="Times New Roman"/>
                <a:cs typeface="Times New Roman"/>
              </a:rPr>
              <a:t>Target</a:t>
            </a:r>
            <a:r>
              <a:rPr sz="1950" spc="50">
                <a:solidFill>
                  <a:srgbClr val="025464"/>
                </a:solidFill>
                <a:latin typeface="Times New Roman"/>
                <a:cs typeface="Times New Roman"/>
              </a:rPr>
              <a:t> </a:t>
            </a:r>
            <a:r>
              <a:rPr sz="1950" spc="0">
                <a:solidFill>
                  <a:srgbClr val="025464"/>
                </a:solidFill>
                <a:latin typeface="Times New Roman"/>
                <a:cs typeface="Times New Roman"/>
              </a:rPr>
              <a:t>group</a:t>
            </a:r>
            <a:endParaRPr sz="1950">
              <a:latin typeface="Times New Roman"/>
              <a:cs typeface="Times New Roman"/>
            </a:endParaRPr>
          </a:p>
        </p:txBody>
      </p:sp>
      <p:sp>
        <p:nvSpPr>
          <p:cNvPr id="6" name="object 6"/>
          <p:cNvSpPr txBox="1"/>
          <p:nvPr/>
        </p:nvSpPr>
        <p:spPr>
          <a:xfrm>
            <a:off x="3025266" y="3919196"/>
            <a:ext cx="1139715" cy="277108"/>
          </a:xfrm>
          <a:prstGeom prst="rect">
            <a:avLst/>
          </a:prstGeom>
        </p:spPr>
        <p:txBody>
          <a:bodyPr wrap="square" lIns="0" tIns="0" rIns="0" bIns="0" rtlCol="0">
            <a:noAutofit/>
          </a:bodyPr>
          <a:lstStyle/>
          <a:p>
            <a:pPr marL="12700">
              <a:lnSpc>
                <a:spcPts val="2060"/>
              </a:lnSpc>
              <a:spcBef>
                <a:spcPts val="103"/>
              </a:spcBef>
            </a:pPr>
            <a:r>
              <a:rPr sz="1950" spc="0">
                <a:solidFill>
                  <a:srgbClr val="025464"/>
                </a:solidFill>
                <a:latin typeface="Times New Roman"/>
                <a:cs typeface="Times New Roman"/>
              </a:rPr>
              <a:t>Prototype</a:t>
            </a:r>
            <a:endParaRPr sz="1950">
              <a:latin typeface="Times New Roman"/>
              <a:cs typeface="Times New Roman"/>
            </a:endParaRPr>
          </a:p>
        </p:txBody>
      </p:sp>
      <p:sp>
        <p:nvSpPr>
          <p:cNvPr id="5" name="object 5"/>
          <p:cNvSpPr txBox="1"/>
          <p:nvPr/>
        </p:nvSpPr>
        <p:spPr>
          <a:xfrm>
            <a:off x="6325925" y="3877474"/>
            <a:ext cx="214634" cy="239028"/>
          </a:xfrm>
          <a:prstGeom prst="rect">
            <a:avLst/>
          </a:prstGeom>
        </p:spPr>
        <p:txBody>
          <a:bodyPr wrap="square" lIns="0" tIns="0" rIns="0" bIns="0" rtlCol="0">
            <a:noAutofit/>
          </a:bodyPr>
          <a:lstStyle/>
          <a:p>
            <a:pPr marL="12700">
              <a:lnSpc>
                <a:spcPts val="1930"/>
              </a:lnSpc>
              <a:spcBef>
                <a:spcPts val="266"/>
              </a:spcBef>
            </a:pPr>
            <a:r>
              <a:rPr lang="en-US" sz="2200" b="1" spc="0" baseline="-7628">
                <a:solidFill>
                  <a:srgbClr val="D9D8D8"/>
                </a:solidFill>
                <a:latin typeface="Times New Roman"/>
                <a:cs typeface="Times New Roman"/>
              </a:rPr>
              <a:t>10</a:t>
            </a:r>
            <a:endParaRPr sz="2200" b="1">
              <a:latin typeface="Times New Roman"/>
              <a:cs typeface="Times New Roman"/>
            </a:endParaRPr>
          </a:p>
        </p:txBody>
      </p:sp>
      <p:sp>
        <p:nvSpPr>
          <p:cNvPr id="4" name="object 4"/>
          <p:cNvSpPr txBox="1"/>
          <p:nvPr/>
        </p:nvSpPr>
        <p:spPr>
          <a:xfrm>
            <a:off x="6714379" y="3934844"/>
            <a:ext cx="1880471" cy="277003"/>
          </a:xfrm>
          <a:prstGeom prst="rect">
            <a:avLst/>
          </a:prstGeom>
        </p:spPr>
        <p:txBody>
          <a:bodyPr wrap="square" lIns="0" tIns="0" rIns="0" bIns="0" rtlCol="0">
            <a:noAutofit/>
          </a:bodyPr>
          <a:lstStyle/>
          <a:p>
            <a:pPr marL="12700">
              <a:lnSpc>
                <a:spcPts val="2060"/>
              </a:lnSpc>
              <a:spcBef>
                <a:spcPts val="103"/>
              </a:spcBef>
            </a:pPr>
            <a:r>
              <a:rPr sz="1950" spc="0">
                <a:solidFill>
                  <a:srgbClr val="025464"/>
                </a:solidFill>
                <a:latin typeface="Times New Roman"/>
                <a:cs typeface="Times New Roman"/>
              </a:rPr>
              <a:t>Group </a:t>
            </a:r>
            <a:r>
              <a:rPr sz="1950" spc="83">
                <a:solidFill>
                  <a:srgbClr val="025464"/>
                </a:solidFill>
                <a:latin typeface="Times New Roman"/>
                <a:cs typeface="Times New Roman"/>
              </a:rPr>
              <a:t> </a:t>
            </a:r>
            <a:r>
              <a:rPr sz="1950" spc="0">
                <a:solidFill>
                  <a:srgbClr val="025464"/>
                </a:solidFill>
                <a:latin typeface="Times New Roman"/>
                <a:cs typeface="Times New Roman"/>
              </a:rPr>
              <a:t>members</a:t>
            </a:r>
            <a:endParaRPr sz="1950">
              <a:latin typeface="Times New Roman"/>
              <a:cs typeface="Times New Roman"/>
            </a:endParaRPr>
          </a:p>
        </p:txBody>
      </p:sp>
      <p:sp>
        <p:nvSpPr>
          <p:cNvPr id="31" name="Arrow: Pentagon 30">
            <a:extLst>
              <a:ext uri="{FF2B5EF4-FFF2-40B4-BE49-F238E27FC236}">
                <a16:creationId xmlns:a16="http://schemas.microsoft.com/office/drawing/2014/main" id="{5972A2F3-EB09-EDE2-9CC4-C84ACBF4E4A3}"/>
              </a:ext>
            </a:extLst>
          </p:cNvPr>
          <p:cNvSpPr/>
          <p:nvPr/>
        </p:nvSpPr>
        <p:spPr>
          <a:xfrm rot="5400000">
            <a:off x="4874672" y="-968082"/>
            <a:ext cx="1126037" cy="3228150"/>
          </a:xfrm>
          <a:prstGeom prst="homePlate">
            <a:avLst/>
          </a:prstGeom>
          <a:solidFill>
            <a:srgbClr val="0066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081CF797-7D2A-103C-7345-58BA64BC8532}"/>
              </a:ext>
            </a:extLst>
          </p:cNvPr>
          <p:cNvSpPr txBox="1"/>
          <p:nvPr/>
        </p:nvSpPr>
        <p:spPr>
          <a:xfrm>
            <a:off x="4299237" y="277921"/>
            <a:ext cx="2210856" cy="584775"/>
          </a:xfrm>
          <a:prstGeom prst="rect">
            <a:avLst/>
          </a:prstGeom>
          <a:noFill/>
        </p:spPr>
        <p:txBody>
          <a:bodyPr wrap="square" rtlCol="0">
            <a:spAutoFit/>
          </a:bodyPr>
          <a:lstStyle/>
          <a:p>
            <a:pPr algn="ctr"/>
            <a:r>
              <a:rPr lang="en-US" sz="3200">
                <a:solidFill>
                  <a:schemeClr val="bg1"/>
                </a:solidFill>
              </a:rPr>
              <a:t>OUTLINE</a:t>
            </a:r>
            <a:endParaRPr lang="en-GB" sz="3200">
              <a:solidFill>
                <a:schemeClr val="bg1"/>
              </a:solidFill>
            </a:endParaRPr>
          </a:p>
        </p:txBody>
      </p:sp>
      <p:sp>
        <p:nvSpPr>
          <p:cNvPr id="33" name="object 27">
            <a:extLst>
              <a:ext uri="{FF2B5EF4-FFF2-40B4-BE49-F238E27FC236}">
                <a16:creationId xmlns:a16="http://schemas.microsoft.com/office/drawing/2014/main" id="{023F85F6-C165-1923-EF70-0AAA7CD0C5B9}"/>
              </a:ext>
            </a:extLst>
          </p:cNvPr>
          <p:cNvSpPr/>
          <p:nvPr/>
        </p:nvSpPr>
        <p:spPr>
          <a:xfrm>
            <a:off x="2466365" y="1215712"/>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34" name="object 19">
            <a:extLst>
              <a:ext uri="{FF2B5EF4-FFF2-40B4-BE49-F238E27FC236}">
                <a16:creationId xmlns:a16="http://schemas.microsoft.com/office/drawing/2014/main" id="{6C312286-ABC4-F09C-99A9-EF46D1EB06F6}"/>
              </a:ext>
            </a:extLst>
          </p:cNvPr>
          <p:cNvSpPr txBox="1"/>
          <p:nvPr/>
        </p:nvSpPr>
        <p:spPr>
          <a:xfrm>
            <a:off x="3113048" y="1303760"/>
            <a:ext cx="1474979" cy="276975"/>
          </a:xfrm>
          <a:prstGeom prst="rect">
            <a:avLst/>
          </a:prstGeom>
        </p:spPr>
        <p:txBody>
          <a:bodyPr wrap="square" lIns="0" tIns="0" rIns="0" bIns="0" rtlCol="0">
            <a:noAutofit/>
          </a:bodyPr>
          <a:lstStyle/>
          <a:p>
            <a:pPr marL="12700">
              <a:lnSpc>
                <a:spcPts val="2060"/>
              </a:lnSpc>
              <a:spcBef>
                <a:spcPts val="103"/>
              </a:spcBef>
            </a:pPr>
            <a:r>
              <a:rPr lang="en-US" sz="1950" spc="0">
                <a:solidFill>
                  <a:srgbClr val="025464"/>
                </a:solidFill>
                <a:latin typeface="Times New Roman"/>
                <a:cs typeface="Times New Roman"/>
              </a:rPr>
              <a:t>Introduction</a:t>
            </a:r>
            <a:endParaRPr sz="1950">
              <a:latin typeface="Times New Roman"/>
              <a:cs typeface="Times New Roman"/>
            </a:endParaRPr>
          </a:p>
        </p:txBody>
      </p:sp>
      <p:sp>
        <p:nvSpPr>
          <p:cNvPr id="35" name="object 21">
            <a:extLst>
              <a:ext uri="{FF2B5EF4-FFF2-40B4-BE49-F238E27FC236}">
                <a16:creationId xmlns:a16="http://schemas.microsoft.com/office/drawing/2014/main" id="{62902480-C714-3FC1-FEF8-C550181C728F}"/>
              </a:ext>
            </a:extLst>
          </p:cNvPr>
          <p:cNvSpPr txBox="1"/>
          <p:nvPr/>
        </p:nvSpPr>
        <p:spPr>
          <a:xfrm>
            <a:off x="2608362" y="1309928"/>
            <a:ext cx="195774" cy="266382"/>
          </a:xfrm>
          <a:prstGeom prst="rect">
            <a:avLst/>
          </a:prstGeom>
        </p:spPr>
        <p:txBody>
          <a:bodyPr wrap="square" lIns="0" tIns="0" rIns="0" bIns="0" rtlCol="0">
            <a:noAutofit/>
          </a:bodyPr>
          <a:lstStyle/>
          <a:p>
            <a:pPr marL="12700">
              <a:lnSpc>
                <a:spcPts val="1930"/>
              </a:lnSpc>
              <a:spcBef>
                <a:spcPts val="266"/>
              </a:spcBef>
            </a:pPr>
            <a:r>
              <a:rPr sz="2850" spc="0" baseline="-7628">
                <a:solidFill>
                  <a:srgbClr val="D9D8D8"/>
                </a:solidFill>
                <a:latin typeface="Times New Roman"/>
                <a:cs typeface="Times New Roman"/>
              </a:rPr>
              <a:t>1</a:t>
            </a:r>
            <a:endParaRPr sz="1900">
              <a:latin typeface="Times New Roman"/>
              <a:cs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19">
            <a:extLst>
              <a:ext uri="{FF2B5EF4-FFF2-40B4-BE49-F238E27FC236}">
                <a16:creationId xmlns:a16="http://schemas.microsoft.com/office/drawing/2014/main" id="{0FF3E4CB-0267-B399-B893-E9A40B2D57D8}"/>
              </a:ext>
            </a:extLst>
          </p:cNvPr>
          <p:cNvSpPr txBox="1"/>
          <p:nvPr/>
        </p:nvSpPr>
        <p:spPr>
          <a:xfrm>
            <a:off x="3733801" y="633141"/>
            <a:ext cx="2590798" cy="463719"/>
          </a:xfrm>
          <a:prstGeom prst="rect">
            <a:avLst/>
          </a:prstGeom>
        </p:spPr>
        <p:txBody>
          <a:bodyPr wrap="square" lIns="0" tIns="0" rIns="0" bIns="0" rtlCol="0">
            <a:noAutofit/>
          </a:bodyPr>
          <a:lstStyle/>
          <a:p>
            <a:pPr marL="12700">
              <a:lnSpc>
                <a:spcPts val="2060"/>
              </a:lnSpc>
              <a:spcBef>
                <a:spcPts val="1200"/>
              </a:spcBef>
              <a:spcAft>
                <a:spcPts val="1800"/>
              </a:spcAft>
            </a:pPr>
            <a:r>
              <a:rPr lang="en-US" sz="3200" spc="0">
                <a:solidFill>
                  <a:srgbClr val="025464"/>
                </a:solidFill>
                <a:latin typeface="Times New Roman"/>
                <a:cs typeface="Times New Roman"/>
              </a:rPr>
              <a:t>Introduction</a:t>
            </a:r>
            <a:endParaRPr sz="3200">
              <a:latin typeface="Times New Roman"/>
              <a:cs typeface="Times New Roman"/>
            </a:endParaRPr>
          </a:p>
        </p:txBody>
      </p:sp>
      <p:grpSp>
        <p:nvGrpSpPr>
          <p:cNvPr id="11" name="Group 10">
            <a:extLst>
              <a:ext uri="{FF2B5EF4-FFF2-40B4-BE49-F238E27FC236}">
                <a16:creationId xmlns:a16="http://schemas.microsoft.com/office/drawing/2014/main" id="{C204783E-9E8D-A478-3241-EAAA7D86832A}"/>
              </a:ext>
            </a:extLst>
          </p:cNvPr>
          <p:cNvGrpSpPr/>
          <p:nvPr/>
        </p:nvGrpSpPr>
        <p:grpSpPr>
          <a:xfrm>
            <a:off x="2857155" y="524367"/>
            <a:ext cx="411241" cy="476987"/>
            <a:chOff x="4091833" y="497875"/>
            <a:chExt cx="411241" cy="476987"/>
          </a:xfrm>
        </p:grpSpPr>
        <p:sp>
          <p:nvSpPr>
            <p:cNvPr id="2" name="object 27">
              <a:extLst>
                <a:ext uri="{FF2B5EF4-FFF2-40B4-BE49-F238E27FC236}">
                  <a16:creationId xmlns:a16="http://schemas.microsoft.com/office/drawing/2014/main" id="{44107657-DB37-8E13-6B59-C127EB8B12A0}"/>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4" name="object 21">
              <a:extLst>
                <a:ext uri="{FF2B5EF4-FFF2-40B4-BE49-F238E27FC236}">
                  <a16:creationId xmlns:a16="http://schemas.microsoft.com/office/drawing/2014/main" id="{8A8466E1-41B9-0E7A-B644-E1B42B9A0AC4}"/>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sz="3200" spc="0" baseline="-7628">
                  <a:solidFill>
                    <a:srgbClr val="D9D8D8"/>
                  </a:solidFill>
                  <a:latin typeface="Times New Roman"/>
                  <a:cs typeface="Times New Roman"/>
                </a:rPr>
                <a:t>1</a:t>
              </a:r>
              <a:endParaRPr sz="3200">
                <a:latin typeface="Times New Roman"/>
                <a:cs typeface="Times New Roman"/>
              </a:endParaRPr>
            </a:p>
          </p:txBody>
        </p:sp>
      </p:grpSp>
      <p:grpSp>
        <p:nvGrpSpPr>
          <p:cNvPr id="5" name="Group 4">
            <a:extLst>
              <a:ext uri="{FF2B5EF4-FFF2-40B4-BE49-F238E27FC236}">
                <a16:creationId xmlns:a16="http://schemas.microsoft.com/office/drawing/2014/main" id="{54D6D678-DB7A-B2D0-EF68-4CB208923594}"/>
              </a:ext>
            </a:extLst>
          </p:cNvPr>
          <p:cNvGrpSpPr/>
          <p:nvPr/>
        </p:nvGrpSpPr>
        <p:grpSpPr>
          <a:xfrm>
            <a:off x="624197" y="961594"/>
            <a:ext cx="253293" cy="3298316"/>
            <a:chOff x="624197" y="961594"/>
            <a:chExt cx="253293" cy="3298316"/>
          </a:xfrm>
        </p:grpSpPr>
        <p:sp>
          <p:nvSpPr>
            <p:cNvPr id="6" name="object 5">
              <a:extLst>
                <a:ext uri="{FF2B5EF4-FFF2-40B4-BE49-F238E27FC236}">
                  <a16:creationId xmlns:a16="http://schemas.microsoft.com/office/drawing/2014/main" id="{D034971E-09C5-99BA-D722-584A28446BFC}"/>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7" name="object 6">
              <a:extLst>
                <a:ext uri="{FF2B5EF4-FFF2-40B4-BE49-F238E27FC236}">
                  <a16:creationId xmlns:a16="http://schemas.microsoft.com/office/drawing/2014/main" id="{EC053329-5A72-4D98-2E66-90238334EF74}"/>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8" name="object 7">
              <a:extLst>
                <a:ext uri="{FF2B5EF4-FFF2-40B4-BE49-F238E27FC236}">
                  <a16:creationId xmlns:a16="http://schemas.microsoft.com/office/drawing/2014/main" id="{9B78C1D0-89A4-7B5A-3542-ECA922B8200A}"/>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9" name="object 8">
              <a:extLst>
                <a:ext uri="{FF2B5EF4-FFF2-40B4-BE49-F238E27FC236}">
                  <a16:creationId xmlns:a16="http://schemas.microsoft.com/office/drawing/2014/main" id="{F588E35A-765E-CFDF-AE44-D852B1F60BD1}"/>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9">
              <a:extLst>
                <a:ext uri="{FF2B5EF4-FFF2-40B4-BE49-F238E27FC236}">
                  <a16:creationId xmlns:a16="http://schemas.microsoft.com/office/drawing/2014/main" id="{7CF09C81-8AB9-C7F2-04E2-D10A871FE4E0}"/>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3" name="TextBox 12">
            <a:extLst>
              <a:ext uri="{FF2B5EF4-FFF2-40B4-BE49-F238E27FC236}">
                <a16:creationId xmlns:a16="http://schemas.microsoft.com/office/drawing/2014/main" id="{280E8ADC-555C-B703-7B0D-68BA505BC7BB}"/>
              </a:ext>
            </a:extLst>
          </p:cNvPr>
          <p:cNvSpPr txBox="1"/>
          <p:nvPr/>
        </p:nvSpPr>
        <p:spPr>
          <a:xfrm>
            <a:off x="1010114" y="1353428"/>
            <a:ext cx="4762035" cy="3754874"/>
          </a:xfrm>
          <a:prstGeom prst="rect">
            <a:avLst/>
          </a:prstGeom>
          <a:noFill/>
        </p:spPr>
        <p:txBody>
          <a:bodyPr wrap="square">
            <a:spAutoFit/>
          </a:bodyPr>
          <a:lstStyle/>
          <a:p>
            <a:r>
              <a:rPr lang="en-US" sz="1700" dirty="0">
                <a:effectLst/>
                <a:latin typeface="Arial" panose="020B0604020202020204" pitchFamily="34" charset="0"/>
                <a:ea typeface="Arial" panose="020B0604020202020204" pitchFamily="34" charset="0"/>
              </a:rPr>
              <a:t>The </a:t>
            </a:r>
            <a:r>
              <a:rPr lang="en-US" sz="1700" b="1" dirty="0">
                <a:effectLst/>
                <a:latin typeface="Arial" panose="020B0604020202020204" pitchFamily="34" charset="0"/>
                <a:ea typeface="Arial" panose="020B0604020202020204" pitchFamily="34" charset="0"/>
              </a:rPr>
              <a:t>Safe Bus System </a:t>
            </a:r>
            <a:r>
              <a:rPr lang="en-US" sz="1700" dirty="0">
                <a:effectLst/>
                <a:latin typeface="Arial" panose="020B0604020202020204" pitchFamily="34" charset="0"/>
                <a:ea typeface="Arial" panose="020B0604020202020204" pitchFamily="34" charset="0"/>
              </a:rPr>
              <a:t>is an innovative idea to improve transportation services within the university. It facilitates the process of tracking buses, updating routes, choosing the most efficient routes, and setting accurate times to reduce congestion. It also pays attention to protecting the privacy of users, whether students or drivers, and provides continuous alerts to keep everyone informed. The system relies on modern technologies to monitor the performance of buses and drivers and issue comprehensive reports, making the transportation experience within the university organized and safe.</a:t>
            </a:r>
            <a:endParaRPr lang="en-US" sz="1700" dirty="0">
              <a:solidFill>
                <a:srgbClr val="0C343D"/>
              </a:solidFill>
              <a:effectLst/>
              <a:latin typeface="Arial" panose="020B0604020202020204" pitchFamily="34" charset="0"/>
              <a:ea typeface="Arial" panose="020B0604020202020204" pitchFamily="34" charset="0"/>
            </a:endParaRPr>
          </a:p>
        </p:txBody>
      </p:sp>
      <p:pic>
        <p:nvPicPr>
          <p:cNvPr id="16" name="Picture 15" descr="A yellow and blue bus&#10;&#10;Description automatically generated">
            <a:extLst>
              <a:ext uri="{FF2B5EF4-FFF2-40B4-BE49-F238E27FC236}">
                <a16:creationId xmlns:a16="http://schemas.microsoft.com/office/drawing/2014/main" id="{542C4170-6A59-85F5-1FFD-08C8D4C85BD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61" b="91016" l="9961" r="89941">
                        <a14:foregroundMark x1="17773" y1="44824" x2="17773" y2="44824"/>
                        <a14:foregroundMark x1="50195" y1="91016" x2="50195" y2="91016"/>
                      </a14:backgroundRemoval>
                    </a14:imgEffect>
                  </a14:imgLayer>
                </a14:imgProps>
              </a:ext>
              <a:ext uri="{28A0092B-C50C-407E-A947-70E740481C1C}">
                <a14:useLocalDpi xmlns:a14="http://schemas.microsoft.com/office/drawing/2010/main" val="0"/>
              </a:ext>
            </a:extLst>
          </a:blip>
          <a:stretch>
            <a:fillRect/>
          </a:stretch>
        </p:blipFill>
        <p:spPr>
          <a:xfrm>
            <a:off x="5502585" y="762860"/>
            <a:ext cx="4467106" cy="4467106"/>
          </a:xfrm>
          <a:prstGeom prst="rect">
            <a:avLst/>
          </a:prstGeom>
        </p:spPr>
      </p:pic>
    </p:spTree>
    <p:extLst>
      <p:ext uri="{BB962C8B-B14F-4D97-AF65-F5344CB8AC3E}">
        <p14:creationId xmlns:p14="http://schemas.microsoft.com/office/powerpoint/2010/main" val="4056505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7">
            <a:extLst>
              <a:ext uri="{FF2B5EF4-FFF2-40B4-BE49-F238E27FC236}">
                <a16:creationId xmlns:a16="http://schemas.microsoft.com/office/drawing/2014/main" id="{4C903B40-E10F-655A-A9B8-B0F63DFF0FB9}"/>
              </a:ext>
            </a:extLst>
          </p:cNvPr>
          <p:cNvSpPr/>
          <p:nvPr/>
        </p:nvSpPr>
        <p:spPr>
          <a:xfrm>
            <a:off x="3783679" y="491690"/>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3" name="object 21">
            <a:extLst>
              <a:ext uri="{FF2B5EF4-FFF2-40B4-BE49-F238E27FC236}">
                <a16:creationId xmlns:a16="http://schemas.microsoft.com/office/drawing/2014/main" id="{CA549544-777E-B828-3E0C-084152D48D16}"/>
              </a:ext>
            </a:extLst>
          </p:cNvPr>
          <p:cNvSpPr txBox="1"/>
          <p:nvPr/>
        </p:nvSpPr>
        <p:spPr>
          <a:xfrm>
            <a:off x="3928524" y="608025"/>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2</a:t>
            </a:r>
            <a:endParaRPr sz="3200">
              <a:latin typeface="Times New Roman"/>
              <a:cs typeface="Times New Roman"/>
            </a:endParaRPr>
          </a:p>
        </p:txBody>
      </p:sp>
      <p:sp>
        <p:nvSpPr>
          <p:cNvPr id="4" name="object 19">
            <a:extLst>
              <a:ext uri="{FF2B5EF4-FFF2-40B4-BE49-F238E27FC236}">
                <a16:creationId xmlns:a16="http://schemas.microsoft.com/office/drawing/2014/main" id="{C0C95BA4-A4DE-26C0-042A-CED121E19AA4}"/>
              </a:ext>
            </a:extLst>
          </p:cNvPr>
          <p:cNvSpPr txBox="1"/>
          <p:nvPr/>
        </p:nvSpPr>
        <p:spPr>
          <a:xfrm>
            <a:off x="4291710" y="628650"/>
            <a:ext cx="2718690" cy="685800"/>
          </a:xfrm>
          <a:prstGeom prst="rect">
            <a:avLst/>
          </a:prstGeom>
        </p:spPr>
        <p:txBody>
          <a:bodyPr wrap="square" lIns="0" tIns="0" rIns="0" bIns="0" rtlCol="0">
            <a:noAutofit/>
          </a:bodyPr>
          <a:lstStyle/>
          <a:p>
            <a:pPr marL="12700">
              <a:lnSpc>
                <a:spcPts val="2060"/>
              </a:lnSpc>
              <a:spcBef>
                <a:spcPts val="103"/>
              </a:spcBef>
            </a:pPr>
            <a:r>
              <a:rPr sz="3200" spc="0">
                <a:solidFill>
                  <a:srgbClr val="025464"/>
                </a:solidFill>
                <a:latin typeface="Times New Roman"/>
                <a:cs typeface="Times New Roman"/>
              </a:rPr>
              <a:t>The</a:t>
            </a:r>
            <a:r>
              <a:rPr lang="en-US" sz="3200" spc="0">
                <a:solidFill>
                  <a:srgbClr val="025464"/>
                </a:solidFill>
                <a:latin typeface="Times New Roman"/>
                <a:cs typeface="Times New Roman"/>
              </a:rPr>
              <a:t> P</a:t>
            </a:r>
            <a:r>
              <a:rPr sz="3200" spc="0">
                <a:solidFill>
                  <a:srgbClr val="025464"/>
                </a:solidFill>
                <a:latin typeface="Times New Roman"/>
                <a:cs typeface="Times New Roman"/>
              </a:rPr>
              <a:t>roblem</a:t>
            </a:r>
            <a:endParaRPr sz="3200">
              <a:latin typeface="Times New Roman"/>
              <a:cs typeface="Times New Roman"/>
            </a:endParaRPr>
          </a:p>
        </p:txBody>
      </p:sp>
      <p:grpSp>
        <p:nvGrpSpPr>
          <p:cNvPr id="5" name="Group 4">
            <a:extLst>
              <a:ext uri="{FF2B5EF4-FFF2-40B4-BE49-F238E27FC236}">
                <a16:creationId xmlns:a16="http://schemas.microsoft.com/office/drawing/2014/main" id="{7D306864-55EA-6745-3F58-470932F10D59}"/>
              </a:ext>
            </a:extLst>
          </p:cNvPr>
          <p:cNvGrpSpPr/>
          <p:nvPr/>
        </p:nvGrpSpPr>
        <p:grpSpPr>
          <a:xfrm>
            <a:off x="624197" y="961594"/>
            <a:ext cx="253293" cy="3298316"/>
            <a:chOff x="624197" y="961594"/>
            <a:chExt cx="253293" cy="3298316"/>
          </a:xfrm>
        </p:grpSpPr>
        <p:sp>
          <p:nvSpPr>
            <p:cNvPr id="6" name="object 5">
              <a:extLst>
                <a:ext uri="{FF2B5EF4-FFF2-40B4-BE49-F238E27FC236}">
                  <a16:creationId xmlns:a16="http://schemas.microsoft.com/office/drawing/2014/main" id="{7A58224B-1A8C-2D89-1596-1DA5E860905E}"/>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7" name="object 6">
              <a:extLst>
                <a:ext uri="{FF2B5EF4-FFF2-40B4-BE49-F238E27FC236}">
                  <a16:creationId xmlns:a16="http://schemas.microsoft.com/office/drawing/2014/main" id="{20C70E23-6C19-EA2C-D412-EBF6AD84A15A}"/>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8" name="object 7">
              <a:extLst>
                <a:ext uri="{FF2B5EF4-FFF2-40B4-BE49-F238E27FC236}">
                  <a16:creationId xmlns:a16="http://schemas.microsoft.com/office/drawing/2014/main" id="{0B6FD0FD-E405-7291-EB99-C665E8B715A6}"/>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9" name="object 8">
              <a:extLst>
                <a:ext uri="{FF2B5EF4-FFF2-40B4-BE49-F238E27FC236}">
                  <a16:creationId xmlns:a16="http://schemas.microsoft.com/office/drawing/2014/main" id="{BC7E8C78-557A-66D3-AA95-000D46F9D165}"/>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9">
              <a:extLst>
                <a:ext uri="{FF2B5EF4-FFF2-40B4-BE49-F238E27FC236}">
                  <a16:creationId xmlns:a16="http://schemas.microsoft.com/office/drawing/2014/main" id="{19AD63E5-35F3-2341-E3E3-B21FDE76C33F}"/>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2" name="TextBox 11">
            <a:extLst>
              <a:ext uri="{FF2B5EF4-FFF2-40B4-BE49-F238E27FC236}">
                <a16:creationId xmlns:a16="http://schemas.microsoft.com/office/drawing/2014/main" id="{873EF152-409E-3A39-A84C-2BF5B45D28EF}"/>
              </a:ext>
            </a:extLst>
          </p:cNvPr>
          <p:cNvSpPr txBox="1"/>
          <p:nvPr/>
        </p:nvSpPr>
        <p:spPr>
          <a:xfrm>
            <a:off x="877227" y="1154876"/>
            <a:ext cx="4151969" cy="830997"/>
          </a:xfrm>
          <a:prstGeom prst="rect">
            <a:avLst/>
          </a:prstGeom>
          <a:noFill/>
        </p:spPr>
        <p:txBody>
          <a:bodyPr wrap="square">
            <a:spAutoFit/>
          </a:bodyPr>
          <a:lstStyle/>
          <a:p>
            <a:r>
              <a:rPr lang="en-US" sz="1600" b="1" u="sng" dirty="0">
                <a:effectLst/>
                <a:latin typeface="Arial" panose="020B0604020202020204" pitchFamily="34" charset="0"/>
                <a:ea typeface="Arial" panose="020B0604020202020204" pitchFamily="34" charset="0"/>
              </a:rPr>
              <a:t>Student problems on the bus:</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 </a:t>
            </a:r>
            <a:endParaRPr lang="en-US" sz="1600" b="1" dirty="0">
              <a:latin typeface="Arial" panose="020B0604020202020204" pitchFamily="34" charset="0"/>
              <a:ea typeface="Arial" panose="020B0604020202020204" pitchFamily="34" charset="0"/>
            </a:endParaRPr>
          </a:p>
        </p:txBody>
      </p:sp>
      <p:sp>
        <p:nvSpPr>
          <p:cNvPr id="13" name="TextBox 12">
            <a:extLst>
              <a:ext uri="{FF2B5EF4-FFF2-40B4-BE49-F238E27FC236}">
                <a16:creationId xmlns:a16="http://schemas.microsoft.com/office/drawing/2014/main" id="{48FDE4BE-0FCA-5CA5-4D81-F1869E44ED0B}"/>
              </a:ext>
            </a:extLst>
          </p:cNvPr>
          <p:cNvSpPr txBox="1"/>
          <p:nvPr/>
        </p:nvSpPr>
        <p:spPr>
          <a:xfrm>
            <a:off x="4854619" y="1570374"/>
            <a:ext cx="4276226" cy="3046988"/>
          </a:xfrm>
          <a:prstGeom prst="rect">
            <a:avLst/>
          </a:prstGeom>
          <a:noFill/>
        </p:spPr>
        <p:txBody>
          <a:bodyPr wrap="square">
            <a:spAutoFit/>
          </a:bodyPr>
          <a:lstStyle/>
          <a:p>
            <a:r>
              <a:rPr lang="en-US" sz="1600" b="1" dirty="0">
                <a:effectLst/>
                <a:latin typeface="Arial" panose="020B0604020202020204" pitchFamily="34" charset="0"/>
                <a:ea typeface="Arial" panose="020B0604020202020204" pitchFamily="34" charset="0"/>
              </a:rPr>
              <a:t>5- Students losing their belongings inside the buses and lack of safety inside the bus. </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6- Lack of communication between the driver and the student if they arrive. </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7- The driver is not sure that the student personally got on the correct bus. </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8- The driver makes sure that the student gets off the bus.</a:t>
            </a:r>
          </a:p>
        </p:txBody>
      </p:sp>
      <p:sp>
        <p:nvSpPr>
          <p:cNvPr id="15" name="TextBox 14">
            <a:extLst>
              <a:ext uri="{FF2B5EF4-FFF2-40B4-BE49-F238E27FC236}">
                <a16:creationId xmlns:a16="http://schemas.microsoft.com/office/drawing/2014/main" id="{6EA4FD95-C361-FD1D-11BE-9457DDC3EF72}"/>
              </a:ext>
            </a:extLst>
          </p:cNvPr>
          <p:cNvSpPr txBox="1"/>
          <p:nvPr/>
        </p:nvSpPr>
        <p:spPr>
          <a:xfrm>
            <a:off x="877222" y="1570374"/>
            <a:ext cx="3850888" cy="3046988"/>
          </a:xfrm>
          <a:prstGeom prst="rect">
            <a:avLst/>
          </a:prstGeom>
          <a:noFill/>
        </p:spPr>
        <p:txBody>
          <a:bodyPr wrap="square">
            <a:spAutoFit/>
          </a:bodyPr>
          <a:lstStyle/>
          <a:p>
            <a:r>
              <a:rPr lang="en-US" sz="1600" b="1" dirty="0">
                <a:effectLst/>
                <a:latin typeface="Arial" panose="020B0604020202020204" pitchFamily="34" charset="0"/>
                <a:ea typeface="Arial" panose="020B0604020202020204" pitchFamily="34" charset="0"/>
              </a:rPr>
              <a:t>1- Irregular bus schedules.</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 2- Buses are crowded with more than the permitted number.</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 3- Air conditioning and cleanliness problems inside the buses and the lack of additional services such as Wi-Fi chargers.</a:t>
            </a:r>
          </a:p>
          <a:p>
            <a:endParaRPr lang="en-US" sz="1600" b="1" dirty="0">
              <a:latin typeface="Arial" panose="020B0604020202020204" pitchFamily="34" charset="0"/>
              <a:ea typeface="Arial" panose="020B0604020202020204" pitchFamily="34" charset="0"/>
            </a:endParaRPr>
          </a:p>
          <a:p>
            <a:r>
              <a:rPr lang="en-US" sz="1600" b="1" dirty="0">
                <a:effectLst/>
                <a:latin typeface="Arial" panose="020B0604020202020204" pitchFamily="34" charset="0"/>
                <a:ea typeface="Arial" panose="020B0604020202020204" pitchFamily="34" charset="0"/>
              </a:rPr>
              <a:t> 4- Drivers' speed and not waiting for late students. </a:t>
            </a:r>
          </a:p>
        </p:txBody>
      </p:sp>
    </p:spTree>
    <p:extLst>
      <p:ext uri="{BB962C8B-B14F-4D97-AF65-F5344CB8AC3E}">
        <p14:creationId xmlns:p14="http://schemas.microsoft.com/office/powerpoint/2010/main" val="683592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291" y="5323500"/>
            <a:ext cx="115845" cy="139700"/>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1205688" y="5323500"/>
            <a:ext cx="740575" cy="139700"/>
          </a:xfrm>
          <a:prstGeom prst="rect">
            <a:avLst/>
          </a:prstGeom>
        </p:spPr>
        <p:txBody>
          <a:bodyPr wrap="square" lIns="0" tIns="0" rIns="0" bIns="0" rtlCol="0">
            <a:noAutofit/>
          </a:bodyPr>
          <a:lstStyle/>
          <a:p>
            <a:pPr marL="12700">
              <a:lnSpc>
                <a:spcPts val="1019"/>
              </a:lnSpc>
              <a:spcBef>
                <a:spcPts val="51"/>
              </a:spcBef>
            </a:pPr>
            <a:r>
              <a:rPr sz="900" spc="0">
                <a:solidFill>
                  <a:srgbClr val="075967"/>
                </a:solidFill>
                <a:latin typeface="Arial"/>
                <a:cs typeface="Arial"/>
              </a:rPr>
              <a:t>SO_KSAUHS</a:t>
            </a:r>
            <a:endParaRPr sz="900">
              <a:latin typeface="Arial"/>
              <a:cs typeface="Arial"/>
            </a:endParaRPr>
          </a:p>
        </p:txBody>
      </p:sp>
      <p:grpSp>
        <p:nvGrpSpPr>
          <p:cNvPr id="6" name="Group 5">
            <a:extLst>
              <a:ext uri="{FF2B5EF4-FFF2-40B4-BE49-F238E27FC236}">
                <a16:creationId xmlns:a16="http://schemas.microsoft.com/office/drawing/2014/main" id="{00C58BFA-4F27-6317-A54F-627AFCEF9C97}"/>
              </a:ext>
            </a:extLst>
          </p:cNvPr>
          <p:cNvGrpSpPr/>
          <p:nvPr/>
        </p:nvGrpSpPr>
        <p:grpSpPr>
          <a:xfrm>
            <a:off x="624197" y="961594"/>
            <a:ext cx="253293" cy="3298316"/>
            <a:chOff x="624197" y="961594"/>
            <a:chExt cx="253293" cy="3298316"/>
          </a:xfrm>
        </p:grpSpPr>
        <p:sp>
          <p:nvSpPr>
            <p:cNvPr id="7" name="object 5">
              <a:extLst>
                <a:ext uri="{FF2B5EF4-FFF2-40B4-BE49-F238E27FC236}">
                  <a16:creationId xmlns:a16="http://schemas.microsoft.com/office/drawing/2014/main" id="{59B2270E-0D81-0699-BB32-806F3B2402FA}"/>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8" name="object 6">
              <a:extLst>
                <a:ext uri="{FF2B5EF4-FFF2-40B4-BE49-F238E27FC236}">
                  <a16:creationId xmlns:a16="http://schemas.microsoft.com/office/drawing/2014/main" id="{AEB8C934-D794-1E4C-E103-F8BDFF9F43F5}"/>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9" name="object 7">
              <a:extLst>
                <a:ext uri="{FF2B5EF4-FFF2-40B4-BE49-F238E27FC236}">
                  <a16:creationId xmlns:a16="http://schemas.microsoft.com/office/drawing/2014/main" id="{D712FB49-B391-D999-1DB0-A3DB194A49C3}"/>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8">
              <a:extLst>
                <a:ext uri="{FF2B5EF4-FFF2-40B4-BE49-F238E27FC236}">
                  <a16:creationId xmlns:a16="http://schemas.microsoft.com/office/drawing/2014/main" id="{A1CC3A3B-9B72-14FE-94BE-9A05FD89BFB2}"/>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1" name="object 9">
              <a:extLst>
                <a:ext uri="{FF2B5EF4-FFF2-40B4-BE49-F238E27FC236}">
                  <a16:creationId xmlns:a16="http://schemas.microsoft.com/office/drawing/2014/main" id="{2DDA3008-8C2A-AB17-20BE-0FAEF8F7CBEB}"/>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2" name="object 19">
            <a:extLst>
              <a:ext uri="{FF2B5EF4-FFF2-40B4-BE49-F238E27FC236}">
                <a16:creationId xmlns:a16="http://schemas.microsoft.com/office/drawing/2014/main" id="{118148D5-2AFB-6C02-279A-9214279F3DAE}"/>
              </a:ext>
            </a:extLst>
          </p:cNvPr>
          <p:cNvSpPr txBox="1"/>
          <p:nvPr/>
        </p:nvSpPr>
        <p:spPr>
          <a:xfrm>
            <a:off x="3248580" y="443333"/>
            <a:ext cx="3428999" cy="463719"/>
          </a:xfrm>
          <a:prstGeom prst="rect">
            <a:avLst/>
          </a:prstGeom>
        </p:spPr>
        <p:txBody>
          <a:bodyPr wrap="square" lIns="0" tIns="0" rIns="0" bIns="0" rtlCol="0">
            <a:noAutofit/>
          </a:bodyPr>
          <a:lstStyle/>
          <a:p>
            <a:pPr marL="12700">
              <a:lnSpc>
                <a:spcPts val="2060"/>
              </a:lnSpc>
              <a:spcBef>
                <a:spcPts val="1200"/>
              </a:spcBef>
              <a:spcAft>
                <a:spcPts val="1800"/>
              </a:spcAft>
            </a:pPr>
            <a:r>
              <a:rPr lang="en-US" sz="3200" spc="0">
                <a:solidFill>
                  <a:srgbClr val="025464"/>
                </a:solidFill>
                <a:latin typeface="Times New Roman"/>
                <a:cs typeface="Times New Roman"/>
              </a:rPr>
              <a:t>Proposed Solution</a:t>
            </a:r>
          </a:p>
        </p:txBody>
      </p:sp>
      <p:grpSp>
        <p:nvGrpSpPr>
          <p:cNvPr id="13" name="Group 12">
            <a:extLst>
              <a:ext uri="{FF2B5EF4-FFF2-40B4-BE49-F238E27FC236}">
                <a16:creationId xmlns:a16="http://schemas.microsoft.com/office/drawing/2014/main" id="{E81D4BD7-712C-12D0-B481-B22C3243BEA5}"/>
              </a:ext>
            </a:extLst>
          </p:cNvPr>
          <p:cNvGrpSpPr/>
          <p:nvPr/>
        </p:nvGrpSpPr>
        <p:grpSpPr>
          <a:xfrm>
            <a:off x="2634750" y="273816"/>
            <a:ext cx="411241" cy="476987"/>
            <a:chOff x="4091833" y="497875"/>
            <a:chExt cx="411241" cy="476987"/>
          </a:xfrm>
        </p:grpSpPr>
        <p:sp>
          <p:nvSpPr>
            <p:cNvPr id="14" name="object 27">
              <a:extLst>
                <a:ext uri="{FF2B5EF4-FFF2-40B4-BE49-F238E27FC236}">
                  <a16:creationId xmlns:a16="http://schemas.microsoft.com/office/drawing/2014/main" id="{369A0E93-4D89-613A-F651-D092A47A8819}"/>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5" name="object 21">
              <a:extLst>
                <a:ext uri="{FF2B5EF4-FFF2-40B4-BE49-F238E27FC236}">
                  <a16:creationId xmlns:a16="http://schemas.microsoft.com/office/drawing/2014/main" id="{6E177C7D-3EC3-AD0F-DAEB-FE48D9916D9B}"/>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3</a:t>
              </a:r>
              <a:endParaRPr sz="3200">
                <a:latin typeface="Times New Roman"/>
                <a:cs typeface="Times New Roman"/>
              </a:endParaRPr>
            </a:p>
          </p:txBody>
        </p:sp>
      </p:grpSp>
      <p:sp>
        <p:nvSpPr>
          <p:cNvPr id="5" name="TextBox 4">
            <a:extLst>
              <a:ext uri="{FF2B5EF4-FFF2-40B4-BE49-F238E27FC236}">
                <a16:creationId xmlns:a16="http://schemas.microsoft.com/office/drawing/2014/main" id="{D6436BBB-93DE-293F-DBBB-E6BCA60F20FE}"/>
              </a:ext>
            </a:extLst>
          </p:cNvPr>
          <p:cNvSpPr txBox="1"/>
          <p:nvPr/>
        </p:nvSpPr>
        <p:spPr>
          <a:xfrm>
            <a:off x="877228" y="907052"/>
            <a:ext cx="3881211" cy="3785652"/>
          </a:xfrm>
          <a:prstGeom prst="rect">
            <a:avLst/>
          </a:prstGeom>
          <a:noFill/>
        </p:spPr>
        <p:txBody>
          <a:bodyPr wrap="square">
            <a:spAutoFit/>
          </a:bodyPr>
          <a:lstStyle/>
          <a:p>
            <a:endParaRPr lang="en-US" sz="1600" b="1" dirty="0"/>
          </a:p>
          <a:p>
            <a:r>
              <a:rPr lang="en-US" sz="1600" b="1" dirty="0"/>
              <a:t>1- Organize specific times for bus arrival and departure.</a:t>
            </a:r>
          </a:p>
          <a:p>
            <a:r>
              <a:rPr lang="en-US" sz="1600" b="1" dirty="0"/>
              <a:t> </a:t>
            </a:r>
          </a:p>
          <a:p>
            <a:r>
              <a:rPr lang="en-US" sz="1600" b="1" dirty="0"/>
              <a:t>2- Determine the number of passengers based on the number of seats and provide a designated space for wheelchairs. </a:t>
            </a:r>
          </a:p>
          <a:p>
            <a:endParaRPr lang="en-US" sz="1600" b="1" dirty="0"/>
          </a:p>
          <a:p>
            <a:r>
              <a:rPr lang="en-US" sz="1600" b="1" dirty="0"/>
              <a:t>3- Improve air conditioning and cleanliness inside buses. </a:t>
            </a:r>
          </a:p>
          <a:p>
            <a:endParaRPr lang="en-US" sz="1600" b="1" dirty="0"/>
          </a:p>
          <a:p>
            <a:r>
              <a:rPr lang="en-US" sz="1600" b="1" dirty="0"/>
              <a:t>4- Add a feature to track buses by parents and students.</a:t>
            </a:r>
          </a:p>
          <a:p>
            <a:endParaRPr lang="en-US" sz="1600" b="1" dirty="0"/>
          </a:p>
          <a:p>
            <a:r>
              <a:rPr lang="en-US" sz="1600" b="1" dirty="0"/>
              <a:t> </a:t>
            </a:r>
          </a:p>
        </p:txBody>
      </p:sp>
      <p:sp>
        <p:nvSpPr>
          <p:cNvPr id="16" name="TextBox 15">
            <a:extLst>
              <a:ext uri="{FF2B5EF4-FFF2-40B4-BE49-F238E27FC236}">
                <a16:creationId xmlns:a16="http://schemas.microsoft.com/office/drawing/2014/main" id="{82AA79C9-0402-0308-8BA3-62F2254B626A}"/>
              </a:ext>
            </a:extLst>
          </p:cNvPr>
          <p:cNvSpPr txBox="1"/>
          <p:nvPr/>
        </p:nvSpPr>
        <p:spPr>
          <a:xfrm>
            <a:off x="4850864" y="1031412"/>
            <a:ext cx="3733800" cy="3293209"/>
          </a:xfrm>
          <a:prstGeom prst="rect">
            <a:avLst/>
          </a:prstGeom>
          <a:noFill/>
        </p:spPr>
        <p:txBody>
          <a:bodyPr wrap="square">
            <a:spAutoFit/>
          </a:bodyPr>
          <a:lstStyle/>
          <a:p>
            <a:r>
              <a:rPr lang="en-US" sz="1600" b="1" dirty="0"/>
              <a:t>5- Use university cards to identify students and ensure that only registered students use buses. </a:t>
            </a:r>
          </a:p>
          <a:p>
            <a:endParaRPr lang="en-US" sz="1600" b="1" dirty="0"/>
          </a:p>
          <a:p>
            <a:r>
              <a:rPr lang="en-US" sz="1600" b="1" dirty="0"/>
              <a:t>6- Receive notifications when the bus arrives at the station or to homes. </a:t>
            </a:r>
          </a:p>
          <a:p>
            <a:endParaRPr lang="en-US" sz="1600" b="1" dirty="0"/>
          </a:p>
          <a:p>
            <a:r>
              <a:rPr lang="en-US" sz="1600" b="1" dirty="0"/>
              <a:t>7- Enhance safety inside the bus and link it with the security department to avoid problems.</a:t>
            </a:r>
          </a:p>
          <a:p>
            <a:endParaRPr lang="en-US" sz="1600" b="1" dirty="0"/>
          </a:p>
          <a:p>
            <a:r>
              <a:rPr lang="en-US" sz="1600" b="1" dirty="0"/>
              <a:t> 8- Set a suitable price that the student can afford and offer discounts.</a:t>
            </a:r>
          </a:p>
        </p:txBody>
      </p:sp>
      <p:pic>
        <p:nvPicPr>
          <p:cNvPr id="18" name="Picture 17" descr="A school bus with many school supplies&#10;&#10;Description automatically generated with medium confidence">
            <a:extLst>
              <a:ext uri="{FF2B5EF4-FFF2-40B4-BE49-F238E27FC236}">
                <a16:creationId xmlns:a16="http://schemas.microsoft.com/office/drawing/2014/main" id="{194F721B-49A6-0A12-B513-5089B47FDF9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961" b="98047" l="9180" r="94629">
                        <a14:foregroundMark x1="59766" y1="19922" x2="59766" y2="19922"/>
                        <a14:foregroundMark x1="57910" y1="11230" x2="56738" y2="20605"/>
                        <a14:foregroundMark x1="56738" y1="20605" x2="56738" y2="20605"/>
                        <a14:foregroundMark x1="59082" y1="16113" x2="48242" y2="21094"/>
                        <a14:foregroundMark x1="48242" y1="21094" x2="59570" y2="22559"/>
                        <a14:foregroundMark x1="59570" y1="22559" x2="59570" y2="18750"/>
                        <a14:foregroundMark x1="94629" y1="36719" x2="87695" y2="45703"/>
                        <a14:foregroundMark x1="87695" y1="45703" x2="87598" y2="45801"/>
                        <a14:foregroundMark x1="22168" y1="77637" x2="9668" y2="84473"/>
                        <a14:foregroundMark x1="9668" y1="84473" x2="20117" y2="85059"/>
                        <a14:foregroundMark x1="20117" y1="85059" x2="21484" y2="75977"/>
                        <a14:foregroundMark x1="11230" y1="75293" x2="7813" y2="90137"/>
                        <a14:foregroundMark x1="7813" y1="90137" x2="18262" y2="91309"/>
                        <a14:foregroundMark x1="18262" y1="91309" x2="11621" y2="83691"/>
                        <a14:foregroundMark x1="11621" y1="83691" x2="11426" y2="83691"/>
                        <a14:foregroundMark x1="17285" y1="89453" x2="8301" y2="89551"/>
                        <a14:foregroundMark x1="8301" y1="89551" x2="15625" y2="98047"/>
                        <a14:foregroundMark x1="15625" y1="98047" x2="18457" y2="91992"/>
                        <a14:foregroundMark x1="9180" y1="92285" x2="9180" y2="92285"/>
                        <a14:foregroundMark x1="60938" y1="71094" x2="46973" y2="84082"/>
                        <a14:foregroundMark x1="46973" y1="84082" x2="52344" y2="94824"/>
                        <a14:foregroundMark x1="52344" y1="94824" x2="57422" y2="95508"/>
                        <a14:foregroundMark x1="54688" y1="92773" x2="64355" y2="87891"/>
                        <a14:foregroundMark x1="64355" y1="87891" x2="63574" y2="81250"/>
                        <a14:foregroundMark x1="60547" y1="91992" x2="64453" y2="92969"/>
                        <a14:foregroundMark x1="61035" y1="93164" x2="62109" y2="93457"/>
                      </a14:backgroundRemoval>
                    </a14:imgEffect>
                  </a14:imgLayer>
                </a14:imgProps>
              </a:ext>
              <a:ext uri="{28A0092B-C50C-407E-A947-70E740481C1C}">
                <a14:useLocalDpi xmlns:a14="http://schemas.microsoft.com/office/drawing/2010/main" val="0"/>
              </a:ext>
            </a:extLst>
          </a:blip>
          <a:stretch>
            <a:fillRect/>
          </a:stretch>
        </p:blipFill>
        <p:spPr>
          <a:xfrm>
            <a:off x="6911881" y="1031412"/>
            <a:ext cx="4460456" cy="446045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291" y="5323500"/>
            <a:ext cx="115845" cy="139700"/>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1205688" y="5323500"/>
            <a:ext cx="740575" cy="139700"/>
          </a:xfrm>
          <a:prstGeom prst="rect">
            <a:avLst/>
          </a:prstGeom>
        </p:spPr>
        <p:txBody>
          <a:bodyPr wrap="square" lIns="0" tIns="0" rIns="0" bIns="0" rtlCol="0">
            <a:noAutofit/>
          </a:bodyPr>
          <a:lstStyle/>
          <a:p>
            <a:pPr marL="12700">
              <a:lnSpc>
                <a:spcPts val="1019"/>
              </a:lnSpc>
              <a:spcBef>
                <a:spcPts val="51"/>
              </a:spcBef>
            </a:pPr>
            <a:r>
              <a:rPr sz="900" spc="0">
                <a:solidFill>
                  <a:srgbClr val="075967"/>
                </a:solidFill>
                <a:latin typeface="Arial"/>
                <a:cs typeface="Arial"/>
              </a:rPr>
              <a:t>SO_KSAUHS</a:t>
            </a:r>
            <a:endParaRPr sz="900">
              <a:latin typeface="Arial"/>
              <a:cs typeface="Arial"/>
            </a:endParaRPr>
          </a:p>
        </p:txBody>
      </p:sp>
      <p:grpSp>
        <p:nvGrpSpPr>
          <p:cNvPr id="6" name="Group 5">
            <a:extLst>
              <a:ext uri="{FF2B5EF4-FFF2-40B4-BE49-F238E27FC236}">
                <a16:creationId xmlns:a16="http://schemas.microsoft.com/office/drawing/2014/main" id="{8B34693F-A26A-E136-A95B-8BB96168F1F9}"/>
              </a:ext>
            </a:extLst>
          </p:cNvPr>
          <p:cNvGrpSpPr/>
          <p:nvPr/>
        </p:nvGrpSpPr>
        <p:grpSpPr>
          <a:xfrm>
            <a:off x="624197" y="961594"/>
            <a:ext cx="253293" cy="3298316"/>
            <a:chOff x="624197" y="961594"/>
            <a:chExt cx="253293" cy="3298316"/>
          </a:xfrm>
        </p:grpSpPr>
        <p:sp>
          <p:nvSpPr>
            <p:cNvPr id="7" name="object 5">
              <a:extLst>
                <a:ext uri="{FF2B5EF4-FFF2-40B4-BE49-F238E27FC236}">
                  <a16:creationId xmlns:a16="http://schemas.microsoft.com/office/drawing/2014/main" id="{D4371E33-9E4E-617F-D742-4B2F85C5D891}"/>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8" name="object 6">
              <a:extLst>
                <a:ext uri="{FF2B5EF4-FFF2-40B4-BE49-F238E27FC236}">
                  <a16:creationId xmlns:a16="http://schemas.microsoft.com/office/drawing/2014/main" id="{5BBE8A95-BFA6-3066-BA1F-2D20C4A4CBA2}"/>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9" name="object 7">
              <a:extLst>
                <a:ext uri="{FF2B5EF4-FFF2-40B4-BE49-F238E27FC236}">
                  <a16:creationId xmlns:a16="http://schemas.microsoft.com/office/drawing/2014/main" id="{525242F3-A998-E17C-08AD-554D9E3A8A1F}"/>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8">
              <a:extLst>
                <a:ext uri="{FF2B5EF4-FFF2-40B4-BE49-F238E27FC236}">
                  <a16:creationId xmlns:a16="http://schemas.microsoft.com/office/drawing/2014/main" id="{97634D34-7811-DAD3-8ED7-F4ED57193BF8}"/>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1" name="object 9">
              <a:extLst>
                <a:ext uri="{FF2B5EF4-FFF2-40B4-BE49-F238E27FC236}">
                  <a16:creationId xmlns:a16="http://schemas.microsoft.com/office/drawing/2014/main" id="{C8F983AD-7AD1-488C-D2FE-A6EE74A97F5C}"/>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2" name="object 19">
            <a:extLst>
              <a:ext uri="{FF2B5EF4-FFF2-40B4-BE49-F238E27FC236}">
                <a16:creationId xmlns:a16="http://schemas.microsoft.com/office/drawing/2014/main" id="{0F9BF2D6-1AF9-3268-9BC1-420590E7987C}"/>
              </a:ext>
            </a:extLst>
          </p:cNvPr>
          <p:cNvSpPr txBox="1"/>
          <p:nvPr/>
        </p:nvSpPr>
        <p:spPr>
          <a:xfrm>
            <a:off x="4080709" y="499542"/>
            <a:ext cx="4072690" cy="463719"/>
          </a:xfrm>
          <a:prstGeom prst="rect">
            <a:avLst/>
          </a:prstGeom>
        </p:spPr>
        <p:txBody>
          <a:bodyPr wrap="square" lIns="0" tIns="0" rIns="0" bIns="0" rtlCol="0">
            <a:noAutofit/>
          </a:bodyPr>
          <a:lstStyle/>
          <a:p>
            <a:pPr marL="12700">
              <a:lnSpc>
                <a:spcPts val="1910"/>
              </a:lnSpc>
              <a:spcBef>
                <a:spcPts val="95"/>
              </a:spcBef>
            </a:pPr>
            <a:r>
              <a:rPr lang="en-GB" sz="3200" spc="0">
                <a:solidFill>
                  <a:srgbClr val="025464"/>
                </a:solidFill>
                <a:latin typeface="Times New Roman"/>
                <a:cs typeface="Times New Roman"/>
              </a:rPr>
              <a:t>Costs and </a:t>
            </a:r>
            <a:r>
              <a:rPr lang="en-GB" sz="3200" spc="13">
                <a:solidFill>
                  <a:srgbClr val="025464"/>
                </a:solidFill>
                <a:latin typeface="Times New Roman"/>
                <a:cs typeface="Times New Roman"/>
              </a:rPr>
              <a:t> </a:t>
            </a:r>
            <a:r>
              <a:rPr lang="en-GB" sz="3200" spc="0">
                <a:solidFill>
                  <a:srgbClr val="025464"/>
                </a:solidFill>
                <a:latin typeface="Times New Roman"/>
                <a:cs typeface="Times New Roman"/>
              </a:rPr>
              <a:t>feasibility</a:t>
            </a:r>
            <a:endParaRPr lang="en-GB" sz="3200">
              <a:latin typeface="Times New Roman"/>
              <a:cs typeface="Times New Roman"/>
            </a:endParaRPr>
          </a:p>
        </p:txBody>
      </p:sp>
      <p:grpSp>
        <p:nvGrpSpPr>
          <p:cNvPr id="13" name="Group 12">
            <a:extLst>
              <a:ext uri="{FF2B5EF4-FFF2-40B4-BE49-F238E27FC236}">
                <a16:creationId xmlns:a16="http://schemas.microsoft.com/office/drawing/2014/main" id="{4E4BC474-FB63-1205-E499-56E94AB5AB9E}"/>
              </a:ext>
            </a:extLst>
          </p:cNvPr>
          <p:cNvGrpSpPr/>
          <p:nvPr/>
        </p:nvGrpSpPr>
        <p:grpSpPr>
          <a:xfrm>
            <a:off x="3429000" y="323850"/>
            <a:ext cx="411241" cy="476987"/>
            <a:chOff x="4091833" y="497875"/>
            <a:chExt cx="411241" cy="476987"/>
          </a:xfrm>
        </p:grpSpPr>
        <p:sp>
          <p:nvSpPr>
            <p:cNvPr id="14" name="object 27">
              <a:extLst>
                <a:ext uri="{FF2B5EF4-FFF2-40B4-BE49-F238E27FC236}">
                  <a16:creationId xmlns:a16="http://schemas.microsoft.com/office/drawing/2014/main" id="{A1EBF311-04AB-6E0E-BAB1-81A07B94FFB7}"/>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5" name="object 21">
              <a:extLst>
                <a:ext uri="{FF2B5EF4-FFF2-40B4-BE49-F238E27FC236}">
                  <a16:creationId xmlns:a16="http://schemas.microsoft.com/office/drawing/2014/main" id="{681954C1-F1A5-F6F8-12A6-0D224CC851AC}"/>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4</a:t>
              </a:r>
              <a:endParaRPr sz="3200">
                <a:latin typeface="Times New Roman"/>
                <a:cs typeface="Times New Roman"/>
              </a:endParaRPr>
            </a:p>
          </p:txBody>
        </p:sp>
      </p:grpSp>
      <p:sp>
        <p:nvSpPr>
          <p:cNvPr id="5" name="Rectangle 2">
            <a:extLst>
              <a:ext uri="{FF2B5EF4-FFF2-40B4-BE49-F238E27FC236}">
                <a16:creationId xmlns:a16="http://schemas.microsoft.com/office/drawing/2014/main" id="{2D0B1696-3C16-89DE-4EA9-FED9545DD7BC}"/>
              </a:ext>
            </a:extLst>
          </p:cNvPr>
          <p:cNvSpPr>
            <a:spLocks noChangeArrowheads="1"/>
          </p:cNvSpPr>
          <p:nvPr/>
        </p:nvSpPr>
        <p:spPr bwMode="auto">
          <a:xfrm>
            <a:off x="964688" y="1068735"/>
            <a:ext cx="326796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Costs:</a:t>
            </a:r>
            <a:endParaRPr kumimoji="0" lang="ar-SA" altLang="en-US"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a:ln>
                  <a:noFill/>
                </a:ln>
                <a:solidFill>
                  <a:schemeClr val="tx1"/>
                </a:solidFill>
                <a:effectLst/>
                <a:latin typeface="Arial" panose="020B0604020202020204" pitchFamily="34" charset="0"/>
              </a:rPr>
              <a:t>Initial Costs</a:t>
            </a:r>
            <a:r>
              <a:rPr kumimoji="0" lang="en-US" altLang="en-US" sz="1600" b="0" i="0" u="none" strike="noStrike" cap="none" normalizeH="0" baseline="0">
                <a:ln>
                  <a:noFill/>
                </a:ln>
                <a:solidFill>
                  <a:schemeClr val="tx1"/>
                </a:solidFill>
                <a:effectLst/>
                <a:latin typeface="Arial" panose="020B0604020202020204" pitchFamily="34" charset="0"/>
              </a:rPr>
              <a:t>: Software development, hardware installation, and training. </a:t>
            </a:r>
            <a:endParaRPr kumimoji="0" lang="ar-SA"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a:ln>
                  <a:noFill/>
                </a:ln>
                <a:solidFill>
                  <a:schemeClr val="tx1"/>
                </a:solidFill>
                <a:effectLst/>
                <a:latin typeface="Arial" panose="020B0604020202020204" pitchFamily="34" charset="0"/>
              </a:rPr>
              <a:t>Operational Costs</a:t>
            </a:r>
            <a:r>
              <a:rPr kumimoji="0" lang="en-US" altLang="en-US" sz="1600" b="0" i="0" u="none" strike="noStrike" cap="none" normalizeH="0" baseline="0">
                <a:ln>
                  <a:noFill/>
                </a:ln>
                <a:solidFill>
                  <a:schemeClr val="tx1"/>
                </a:solidFill>
                <a:effectLst/>
                <a:latin typeface="Arial" panose="020B0604020202020204" pitchFamily="34" charset="0"/>
              </a:rPr>
              <a:t>: Maintenance, data storage, and fuel/energy. </a:t>
            </a:r>
            <a:endParaRPr kumimoji="0" lang="ar-SA"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a:ln>
                  <a:noFill/>
                </a:ln>
                <a:solidFill>
                  <a:schemeClr val="tx1"/>
                </a:solidFill>
                <a:effectLst/>
                <a:latin typeface="Arial" panose="020B0604020202020204" pitchFamily="34" charset="0"/>
              </a:rPr>
              <a:t>Additional Investments</a:t>
            </a:r>
            <a:r>
              <a:rPr kumimoji="0" lang="en-US" altLang="en-US" sz="1600" b="0" i="0" u="none" strike="noStrike" cap="none" normalizeH="0" baseline="0">
                <a:ln>
                  <a:noFill/>
                </a:ln>
                <a:solidFill>
                  <a:schemeClr val="tx1"/>
                </a:solidFill>
                <a:effectLst/>
                <a:latin typeface="Arial" panose="020B0604020202020204" pitchFamily="34" charset="0"/>
              </a:rPr>
              <a:t>: Expanding features like apps or analytics. </a:t>
            </a:r>
            <a:endParaRPr lang="ar-SA" altLang="en-US" sz="160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6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84C1B5BD-85A3-03B7-A465-5FF8587E013C}"/>
              </a:ext>
            </a:extLst>
          </p:cNvPr>
          <p:cNvSpPr txBox="1"/>
          <p:nvPr/>
        </p:nvSpPr>
        <p:spPr>
          <a:xfrm>
            <a:off x="4501486" y="952069"/>
            <a:ext cx="5029200" cy="403187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panose="020B0604020202020204" pitchFamily="34" charset="0"/>
              </a:rPr>
              <a:t>Feasibility:</a:t>
            </a:r>
            <a:endParaRPr kumimoji="0" lang="ar-SA" altLang="en-US"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600" b="1" i="0" u="none" strike="noStrike" cap="none" normalizeH="0" baseline="0">
                <a:ln>
                  <a:noFill/>
                </a:ln>
                <a:solidFill>
                  <a:schemeClr val="tx1"/>
                </a:solidFill>
                <a:effectLst/>
                <a:latin typeface="Arial" panose="020B0604020202020204" pitchFamily="34" charset="0"/>
              </a:rPr>
              <a:t>Technical</a:t>
            </a:r>
            <a:r>
              <a:rPr kumimoji="0" lang="en-US" altLang="en-US" sz="1600" b="0" i="0" u="none" strike="noStrike" cap="none" normalizeH="0" baseline="0">
                <a:ln>
                  <a:noFill/>
                </a:ln>
                <a:solidFill>
                  <a:schemeClr val="tx1"/>
                </a:solidFill>
                <a:effectLst/>
                <a:latin typeface="Arial" panose="020B0604020202020204" pitchFamily="34" charset="0"/>
              </a:rPr>
              <a:t>: Based on proven technologies; easily scalable. </a:t>
            </a:r>
            <a:endParaRPr kumimoji="0" lang="ar-SA"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600" b="1" i="0" u="none" strike="noStrike" cap="none" normalizeH="0" baseline="0">
                <a:ln>
                  <a:noFill/>
                </a:ln>
                <a:solidFill>
                  <a:schemeClr val="tx1"/>
                </a:solidFill>
                <a:effectLst/>
                <a:latin typeface="Arial" panose="020B0604020202020204" pitchFamily="34" charset="0"/>
              </a:rPr>
              <a:t>Economic</a:t>
            </a:r>
            <a:r>
              <a:rPr kumimoji="0" lang="en-US" altLang="en-US" sz="1600" b="0" i="0" u="none" strike="noStrike" cap="none" normalizeH="0" baseline="0">
                <a:ln>
                  <a:noFill/>
                </a:ln>
                <a:solidFill>
                  <a:schemeClr val="tx1"/>
                </a:solidFill>
                <a:effectLst/>
                <a:latin typeface="Arial" panose="020B0604020202020204" pitchFamily="34" charset="0"/>
              </a:rPr>
              <a:t>: Reduces long-term costs with optimized routes and efficiency. </a:t>
            </a:r>
            <a:endParaRPr kumimoji="0" lang="ar-SA"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600" b="1" i="0" u="none" strike="noStrike" cap="none" normalizeH="0" baseline="0">
                <a:ln>
                  <a:noFill/>
                </a:ln>
                <a:solidFill>
                  <a:schemeClr val="tx1"/>
                </a:solidFill>
                <a:effectLst/>
                <a:latin typeface="Arial" panose="020B0604020202020204" pitchFamily="34" charset="0"/>
              </a:rPr>
              <a:t>Social</a:t>
            </a:r>
            <a:r>
              <a:rPr kumimoji="0" lang="en-US" altLang="en-US" sz="1600" b="0" i="0" u="none" strike="noStrike" cap="none" normalizeH="0" baseline="0">
                <a:ln>
                  <a:noFill/>
                </a:ln>
                <a:solidFill>
                  <a:schemeClr val="tx1"/>
                </a:solidFill>
                <a:effectLst/>
                <a:latin typeface="Arial" panose="020B0604020202020204" pitchFamily="34" charset="0"/>
              </a:rPr>
              <a:t>: Improves convenience and safety, gaining user acceptance. </a:t>
            </a:r>
            <a:endParaRPr kumimoji="0" lang="ar-SA"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600" b="1" i="0" u="none" strike="noStrike" cap="none" normalizeH="0" baseline="0">
                <a:ln>
                  <a:noFill/>
                </a:ln>
                <a:solidFill>
                  <a:schemeClr val="tx1"/>
                </a:solidFill>
                <a:effectLst/>
                <a:latin typeface="Arial" panose="020B0604020202020204" pitchFamily="34" charset="0"/>
              </a:rPr>
              <a:t>Environmental</a:t>
            </a:r>
            <a:r>
              <a:rPr kumimoji="0" lang="en-US" altLang="en-US" sz="1600" b="0" i="0" u="none" strike="noStrike" cap="none" normalizeH="0" baseline="0">
                <a:ln>
                  <a:noFill/>
                </a:ln>
                <a:solidFill>
                  <a:schemeClr val="tx1"/>
                </a:solidFill>
                <a:effectLst/>
                <a:latin typeface="Arial" panose="020B0604020202020204" pitchFamily="34" charset="0"/>
              </a:rPr>
              <a:t>: Lowers carbon footprint with better route planning. </a:t>
            </a:r>
            <a:endParaRPr kumimoji="0" lang="ar-SA"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600" b="1" i="0" u="none" strike="noStrike" cap="none" normalizeH="0" baseline="0">
                <a:ln>
                  <a:noFill/>
                </a:ln>
                <a:solidFill>
                  <a:schemeClr val="tx1"/>
                </a:solidFill>
                <a:effectLst/>
                <a:latin typeface="Arial" panose="020B0604020202020204" pitchFamily="34" charset="0"/>
              </a:rPr>
              <a:t>Implementation</a:t>
            </a:r>
            <a:r>
              <a:rPr kumimoji="0" lang="en-US" altLang="en-US" sz="1600" b="0" i="0" u="none" strike="noStrike" cap="none" normalizeH="0" baseline="0">
                <a:ln>
                  <a:noFill/>
                </a:ln>
                <a:solidFill>
                  <a:schemeClr val="tx1"/>
                </a:solidFill>
                <a:effectLst/>
                <a:latin typeface="Arial" panose="020B0604020202020204" pitchFamily="34" charset="0"/>
              </a:rPr>
              <a:t>: Phased rollout ensures smooth integration.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6667770" y="5281348"/>
            <a:ext cx="762721" cy="164960"/>
          </a:xfrm>
          <a:prstGeom prst="rect">
            <a:avLst/>
          </a:prstGeom>
        </p:spPr>
        <p:txBody>
          <a:bodyPr wrap="square" lIns="0" tIns="0" rIns="0" bIns="0" rtlCol="0">
            <a:noAutofit/>
          </a:bodyPr>
          <a:lstStyle/>
          <a:p>
            <a:pPr marL="12700">
              <a:lnSpc>
                <a:spcPct val="95825"/>
              </a:lnSpc>
              <a:spcBef>
                <a:spcPts val="10"/>
              </a:spcBef>
            </a:pPr>
            <a:r>
              <a:rPr sz="600">
                <a:solidFill>
                  <a:srgbClr val="487C83"/>
                </a:solidFill>
                <a:latin typeface="Arial"/>
                <a:cs typeface="Arial"/>
              </a:rPr>
              <a:t>&lt;..J'</a:t>
            </a:r>
            <a:r>
              <a:rPr sz="600">
                <a:solidFill>
                  <a:srgbClr val="346E75"/>
                </a:solidFill>
                <a:latin typeface="Arial"/>
                <a:cs typeface="Arial"/>
              </a:rPr>
              <a:t>pru</a:t>
            </a:r>
            <a:r>
              <a:rPr sz="600">
                <a:solidFill>
                  <a:srgbClr val="487C83"/>
                </a:solidFill>
                <a:latin typeface="Arial"/>
                <a:cs typeface="Arial"/>
              </a:rPr>
              <a:t>l  </a:t>
            </a:r>
            <a:r>
              <a:rPr sz="600" spc="-39">
                <a:solidFill>
                  <a:srgbClr val="487C83"/>
                </a:solidFill>
                <a:latin typeface="Arial"/>
                <a:cs typeface="Arial"/>
              </a:rPr>
              <a:t> </a:t>
            </a:r>
            <a:r>
              <a:rPr sz="600" spc="0">
                <a:solidFill>
                  <a:srgbClr val="346E75"/>
                </a:solidFill>
                <a:latin typeface="Arial"/>
                <a:cs typeface="Arial"/>
              </a:rPr>
              <a:t>&lt;.]l.£</a:t>
            </a:r>
            <a:r>
              <a:rPr sz="600" spc="0">
                <a:solidFill>
                  <a:srgbClr val="487C83"/>
                </a:solidFill>
                <a:latin typeface="Arial"/>
                <a:cs typeface="Arial"/>
              </a:rPr>
              <a:t>g.il  </a:t>
            </a:r>
            <a:r>
              <a:rPr sz="600" spc="101">
                <a:solidFill>
                  <a:srgbClr val="487C83"/>
                </a:solidFill>
                <a:latin typeface="Arial"/>
                <a:cs typeface="Arial"/>
              </a:rPr>
              <a:t> </a:t>
            </a:r>
            <a:r>
              <a:rPr sz="700" spc="0">
                <a:solidFill>
                  <a:srgbClr val="487C83"/>
                </a:solidFill>
                <a:latin typeface="Times New Roman"/>
                <a:cs typeface="Times New Roman"/>
              </a:rPr>
              <a:t>c</a:t>
            </a:r>
            <a:r>
              <a:rPr sz="700" spc="0">
                <a:solidFill>
                  <a:srgbClr val="346E75"/>
                </a:solidFill>
                <a:latin typeface="Times New Roman"/>
                <a:cs typeface="Times New Roman"/>
              </a:rPr>
              <a:t>l.J</a:t>
            </a:r>
            <a:r>
              <a:rPr sz="700" spc="0">
                <a:solidFill>
                  <a:srgbClr val="487C83"/>
                </a:solidFill>
                <a:latin typeface="Times New Roman"/>
                <a:cs typeface="Times New Roman"/>
              </a:rPr>
              <a:t>g</a:t>
            </a:r>
            <a:endParaRPr sz="700">
              <a:latin typeface="Times New Roman"/>
              <a:cs typeface="Times New Roman"/>
            </a:endParaRPr>
          </a:p>
          <a:p>
            <a:pPr marL="12700" marR="13334">
              <a:lnSpc>
                <a:spcPct val="95825"/>
              </a:lnSpc>
              <a:spcBef>
                <a:spcPts val="45"/>
              </a:spcBef>
            </a:pPr>
            <a:r>
              <a:rPr sz="300">
                <a:solidFill>
                  <a:srgbClr val="72999A"/>
                </a:solidFill>
                <a:latin typeface="Arial"/>
                <a:cs typeface="Arial"/>
              </a:rPr>
              <a:t>~</a:t>
            </a:r>
            <a:r>
              <a:rPr sz="300">
                <a:solidFill>
                  <a:srgbClr val="346E75"/>
                </a:solidFill>
                <a:latin typeface="Arial"/>
                <a:cs typeface="Arial"/>
              </a:rPr>
              <a:t>1</a:t>
            </a:r>
            <a:r>
              <a:rPr sz="300">
                <a:solidFill>
                  <a:srgbClr val="72999A"/>
                </a:solidFill>
                <a:latin typeface="Arial"/>
                <a:cs typeface="Arial"/>
              </a:rPr>
              <a:t>,:;~~~</a:t>
            </a:r>
            <a:r>
              <a:rPr sz="300">
                <a:solidFill>
                  <a:srgbClr val="90AFAE"/>
                </a:solidFill>
                <a:latin typeface="Arial"/>
                <a:cs typeface="Arial"/>
              </a:rPr>
              <a:t>r</a:t>
            </a:r>
            <a:r>
              <a:rPr sz="300">
                <a:solidFill>
                  <a:srgbClr val="72999A"/>
                </a:solidFill>
                <a:latin typeface="Arial"/>
                <a:cs typeface="Arial"/>
              </a:rPr>
              <a:t>.4J:c...~~ci.</a:t>
            </a:r>
            <a:r>
              <a:rPr sz="300">
                <a:solidFill>
                  <a:srgbClr val="487C83"/>
                </a:solidFill>
                <a:latin typeface="Arial"/>
                <a:cs typeface="Arial"/>
              </a:rPr>
              <a:t>dl</a:t>
            </a:r>
            <a:r>
              <a:rPr sz="300">
                <a:solidFill>
                  <a:srgbClr val="72999A"/>
                </a:solidFill>
                <a:latin typeface="Arial"/>
                <a:cs typeface="Arial"/>
              </a:rPr>
              <a:t>~l;J</a:t>
            </a:r>
            <a:endParaRPr sz="300">
              <a:latin typeface="Arial"/>
              <a:cs typeface="Arial"/>
            </a:endParaRPr>
          </a:p>
        </p:txBody>
      </p:sp>
      <p:sp>
        <p:nvSpPr>
          <p:cNvPr id="3" name="object 3"/>
          <p:cNvSpPr txBox="1"/>
          <p:nvPr/>
        </p:nvSpPr>
        <p:spPr>
          <a:xfrm>
            <a:off x="181852" y="5340518"/>
            <a:ext cx="115845" cy="139699"/>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471250" y="5340518"/>
            <a:ext cx="740575" cy="139699"/>
          </a:xfrm>
          <a:prstGeom prst="rect">
            <a:avLst/>
          </a:prstGeom>
        </p:spPr>
        <p:txBody>
          <a:bodyPr wrap="square" lIns="0" tIns="0" rIns="0" bIns="0" rtlCol="0">
            <a:noAutofit/>
          </a:bodyPr>
          <a:lstStyle/>
          <a:p>
            <a:pPr marL="12700">
              <a:lnSpc>
                <a:spcPts val="1019"/>
              </a:lnSpc>
              <a:spcBef>
                <a:spcPts val="51"/>
              </a:spcBef>
            </a:pPr>
            <a:r>
              <a:rPr sz="900" spc="0">
                <a:solidFill>
                  <a:srgbClr val="055664"/>
                </a:solidFill>
                <a:latin typeface="Arial"/>
                <a:cs typeface="Arial"/>
              </a:rPr>
              <a:t>SO_KSAUHS</a:t>
            </a:r>
            <a:endParaRPr sz="900">
              <a:latin typeface="Arial"/>
              <a:cs typeface="Arial"/>
            </a:endParaRPr>
          </a:p>
        </p:txBody>
      </p:sp>
      <p:grpSp>
        <p:nvGrpSpPr>
          <p:cNvPr id="5" name="Group 4">
            <a:extLst>
              <a:ext uri="{FF2B5EF4-FFF2-40B4-BE49-F238E27FC236}">
                <a16:creationId xmlns:a16="http://schemas.microsoft.com/office/drawing/2014/main" id="{2D009F17-DD2D-CC00-9EB4-A4EBDE908963}"/>
              </a:ext>
            </a:extLst>
          </p:cNvPr>
          <p:cNvGrpSpPr/>
          <p:nvPr/>
        </p:nvGrpSpPr>
        <p:grpSpPr>
          <a:xfrm>
            <a:off x="624197" y="961594"/>
            <a:ext cx="253293" cy="3298316"/>
            <a:chOff x="624197" y="961594"/>
            <a:chExt cx="253293" cy="3298316"/>
          </a:xfrm>
        </p:grpSpPr>
        <p:sp>
          <p:nvSpPr>
            <p:cNvPr id="6" name="object 5">
              <a:extLst>
                <a:ext uri="{FF2B5EF4-FFF2-40B4-BE49-F238E27FC236}">
                  <a16:creationId xmlns:a16="http://schemas.microsoft.com/office/drawing/2014/main" id="{8E5AC922-625A-17FE-8FAC-299671109422}"/>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7" name="object 6">
              <a:extLst>
                <a:ext uri="{FF2B5EF4-FFF2-40B4-BE49-F238E27FC236}">
                  <a16:creationId xmlns:a16="http://schemas.microsoft.com/office/drawing/2014/main" id="{FE3C4E4F-3974-FB27-DB95-02830901ED97}"/>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8" name="object 7">
              <a:extLst>
                <a:ext uri="{FF2B5EF4-FFF2-40B4-BE49-F238E27FC236}">
                  <a16:creationId xmlns:a16="http://schemas.microsoft.com/office/drawing/2014/main" id="{B997F060-9438-00E1-5B71-F65F126BBB6E}"/>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9" name="object 8">
              <a:extLst>
                <a:ext uri="{FF2B5EF4-FFF2-40B4-BE49-F238E27FC236}">
                  <a16:creationId xmlns:a16="http://schemas.microsoft.com/office/drawing/2014/main" id="{E391EAB4-4ECE-4AF9-40D6-F8688F235CC4}"/>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9">
              <a:extLst>
                <a:ext uri="{FF2B5EF4-FFF2-40B4-BE49-F238E27FC236}">
                  <a16:creationId xmlns:a16="http://schemas.microsoft.com/office/drawing/2014/main" id="{6E8F9017-37D8-CF0A-4EFF-E40D74A095DC}"/>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1" name="object 19">
            <a:extLst>
              <a:ext uri="{FF2B5EF4-FFF2-40B4-BE49-F238E27FC236}">
                <a16:creationId xmlns:a16="http://schemas.microsoft.com/office/drawing/2014/main" id="{D48F14BD-D384-60E0-55BD-0C3A276314BB}"/>
              </a:ext>
            </a:extLst>
          </p:cNvPr>
          <p:cNvSpPr txBox="1"/>
          <p:nvPr/>
        </p:nvSpPr>
        <p:spPr>
          <a:xfrm>
            <a:off x="4080709" y="499542"/>
            <a:ext cx="3428999" cy="463719"/>
          </a:xfrm>
          <a:prstGeom prst="rect">
            <a:avLst/>
          </a:prstGeom>
        </p:spPr>
        <p:txBody>
          <a:bodyPr wrap="square" lIns="0" tIns="0" rIns="0" bIns="0" rtlCol="0">
            <a:noAutofit/>
          </a:bodyPr>
          <a:lstStyle/>
          <a:p>
            <a:pPr marL="12700">
              <a:lnSpc>
                <a:spcPts val="2060"/>
              </a:lnSpc>
              <a:spcBef>
                <a:spcPts val="103"/>
              </a:spcBef>
            </a:pPr>
            <a:r>
              <a:rPr lang="en-GB" sz="3200" spc="0">
                <a:solidFill>
                  <a:srgbClr val="025464"/>
                </a:solidFill>
                <a:latin typeface="Times New Roman"/>
                <a:cs typeface="Times New Roman"/>
              </a:rPr>
              <a:t>Added </a:t>
            </a:r>
            <a:r>
              <a:rPr lang="en-GB" sz="3200" spc="90">
                <a:solidFill>
                  <a:srgbClr val="025464"/>
                </a:solidFill>
                <a:latin typeface="Times New Roman"/>
                <a:cs typeface="Times New Roman"/>
              </a:rPr>
              <a:t> </a:t>
            </a:r>
            <a:r>
              <a:rPr lang="en-GB" sz="3200" spc="0">
                <a:solidFill>
                  <a:srgbClr val="025464"/>
                </a:solidFill>
                <a:latin typeface="Times New Roman"/>
                <a:cs typeface="Times New Roman"/>
              </a:rPr>
              <a:t>value</a:t>
            </a:r>
            <a:endParaRPr lang="en-GB" sz="3200">
              <a:latin typeface="Times New Roman"/>
              <a:cs typeface="Times New Roman"/>
            </a:endParaRPr>
          </a:p>
        </p:txBody>
      </p:sp>
      <p:grpSp>
        <p:nvGrpSpPr>
          <p:cNvPr id="12" name="Group 11">
            <a:extLst>
              <a:ext uri="{FF2B5EF4-FFF2-40B4-BE49-F238E27FC236}">
                <a16:creationId xmlns:a16="http://schemas.microsoft.com/office/drawing/2014/main" id="{8FBB798F-5BA7-5DE1-C4A9-4FC14DCA77F5}"/>
              </a:ext>
            </a:extLst>
          </p:cNvPr>
          <p:cNvGrpSpPr/>
          <p:nvPr/>
        </p:nvGrpSpPr>
        <p:grpSpPr>
          <a:xfrm>
            <a:off x="3429000" y="323850"/>
            <a:ext cx="411241" cy="476987"/>
            <a:chOff x="4091833" y="497875"/>
            <a:chExt cx="411241" cy="476987"/>
          </a:xfrm>
        </p:grpSpPr>
        <p:sp>
          <p:nvSpPr>
            <p:cNvPr id="13" name="object 27">
              <a:extLst>
                <a:ext uri="{FF2B5EF4-FFF2-40B4-BE49-F238E27FC236}">
                  <a16:creationId xmlns:a16="http://schemas.microsoft.com/office/drawing/2014/main" id="{DA08C239-3D68-A573-6E0B-1DCBFD534B59}"/>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4" name="object 21">
              <a:extLst>
                <a:ext uri="{FF2B5EF4-FFF2-40B4-BE49-F238E27FC236}">
                  <a16:creationId xmlns:a16="http://schemas.microsoft.com/office/drawing/2014/main" id="{BBBB96A2-D990-DFCA-2E75-7683AA83C402}"/>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5</a:t>
              </a:r>
              <a:endParaRPr sz="3200">
                <a:latin typeface="Times New Roman"/>
                <a:cs typeface="Times New Roman"/>
              </a:endParaRPr>
            </a:p>
          </p:txBody>
        </p:sp>
      </p:grpSp>
      <p:sp>
        <p:nvSpPr>
          <p:cNvPr id="15" name="Rectangle 1">
            <a:extLst>
              <a:ext uri="{FF2B5EF4-FFF2-40B4-BE49-F238E27FC236}">
                <a16:creationId xmlns:a16="http://schemas.microsoft.com/office/drawing/2014/main" id="{91CD21AD-A600-96CD-A158-1532444218B9}"/>
              </a:ext>
            </a:extLst>
          </p:cNvPr>
          <p:cNvSpPr>
            <a:spLocks noChangeArrowheads="1"/>
          </p:cNvSpPr>
          <p:nvPr/>
        </p:nvSpPr>
        <p:spPr bwMode="auto">
          <a:xfrm>
            <a:off x="874340" y="1137145"/>
            <a:ext cx="412334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a:ln>
                  <a:noFill/>
                </a:ln>
                <a:solidFill>
                  <a:schemeClr val="tx1"/>
                </a:solidFill>
                <a:effectLst/>
                <a:latin typeface="Arial" panose="020B0604020202020204" pitchFamily="34" charset="0"/>
              </a:rPr>
              <a:t>Improved Efficiency</a:t>
            </a:r>
            <a:r>
              <a:rPr kumimoji="0" lang="en-US" altLang="en-US" sz="1800" b="0" i="0" u="none" strike="noStrike" cap="none" normalizeH="0" baseline="0">
                <a:ln>
                  <a:noFill/>
                </a:ln>
                <a:solidFill>
                  <a:schemeClr val="tx1"/>
                </a:solidFill>
                <a:effectLst/>
                <a:latin typeface="Arial" panose="020B0604020202020204" pitchFamily="34" charset="0"/>
              </a:rPr>
              <a:t>: Optimized routes and reduced travel time. </a:t>
            </a:r>
            <a:endParaRPr kumimoji="0" lang="ar-SA"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a:ln>
                  <a:noFill/>
                </a:ln>
                <a:solidFill>
                  <a:schemeClr val="tx1"/>
                </a:solidFill>
                <a:effectLst/>
                <a:latin typeface="Arial" panose="020B0604020202020204" pitchFamily="34" charset="0"/>
              </a:rPr>
              <a:t>Safety and Privacy</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Protects passenger and driver data with real-time alerts</a:t>
            </a:r>
            <a:endParaRPr lang="ar-SA" altLang="en-US">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a:ln>
                  <a:noFill/>
                </a:ln>
                <a:solidFill>
                  <a:schemeClr val="tx1"/>
                </a:solidFill>
                <a:effectLst/>
                <a:latin typeface="Arial" panose="020B0604020202020204" pitchFamily="34" charset="0"/>
              </a:rPr>
              <a:t>Flexibility and Customization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Adjusts schedules and routes based on demand.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a:ln>
                  <a:noFill/>
                </a:ln>
                <a:solidFill>
                  <a:schemeClr val="tx1"/>
                </a:solidFill>
                <a:effectLst/>
                <a:latin typeface="Arial" panose="020B0604020202020204" pitchFamily="34" charset="0"/>
              </a:rPr>
              <a:t>Monitoring and Reporting</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Tracks performance and provides comprehensive reports.</a:t>
            </a:r>
            <a:endParaRPr kumimoji="0" lang="ar-SA"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B35A183A-91D4-4653-BE65-17327FA6806D}"/>
              </a:ext>
            </a:extLst>
          </p:cNvPr>
          <p:cNvSpPr txBox="1"/>
          <p:nvPr/>
        </p:nvSpPr>
        <p:spPr>
          <a:xfrm>
            <a:off x="5124461" y="1137145"/>
            <a:ext cx="4612059"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a:ln>
                  <a:noFill/>
                </a:ln>
                <a:solidFill>
                  <a:schemeClr val="tx1"/>
                </a:solidFill>
                <a:effectLst/>
                <a:latin typeface="Arial" panose="020B0604020202020204" pitchFamily="34" charset="0"/>
              </a:rPr>
              <a:t>Cost Reduction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Reduces fuel consumption and enhances user satisfaction. </a:t>
            </a:r>
            <a:endParaRPr kumimoji="0" lang="ar-SA"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1" i="0" u="none" strike="noStrike" cap="none" normalizeH="0" baseline="0">
                <a:ln>
                  <a:noFill/>
                </a:ln>
                <a:solidFill>
                  <a:schemeClr val="tx1"/>
                </a:solidFill>
                <a:effectLst/>
                <a:latin typeface="Arial" panose="020B0604020202020204" pitchFamily="34" charset="0"/>
              </a:rPr>
              <a:t>Effective Communication</a:t>
            </a: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Provides updates and alerts to all users. </a:t>
            </a:r>
            <a:endParaRPr kumimoji="0" lang="ar-SA"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1" i="0" u="none" strike="noStrike" cap="none" normalizeH="0" baseline="0">
                <a:ln>
                  <a:noFill/>
                </a:ln>
                <a:solidFill>
                  <a:schemeClr val="tx1"/>
                </a:solidFill>
                <a:effectLst/>
                <a:latin typeface="Arial" panose="020B0604020202020204" pitchFamily="34" charset="0"/>
              </a:rPr>
              <a:t>Better Organization</a:t>
            </a:r>
            <a:r>
              <a:rPr kumimoji="0" lang="en-US" altLang="en-US"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a:ln>
                  <a:noFill/>
                </a:ln>
                <a:solidFill>
                  <a:schemeClr val="tx1"/>
                </a:solidFill>
                <a:effectLst/>
                <a:latin typeface="Arial" panose="020B0604020202020204" pitchFamily="34" charset="0"/>
              </a:rPr>
              <a:t> Ensures a reliable and well-organized campus transport system.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ADE570A-31C0-BA82-8C25-57E65DD1B030}"/>
              </a:ext>
            </a:extLst>
          </p:cNvPr>
          <p:cNvGrpSpPr/>
          <p:nvPr/>
        </p:nvGrpSpPr>
        <p:grpSpPr>
          <a:xfrm>
            <a:off x="624197" y="961594"/>
            <a:ext cx="253293" cy="3298316"/>
            <a:chOff x="624197" y="961594"/>
            <a:chExt cx="253293" cy="3298316"/>
          </a:xfrm>
        </p:grpSpPr>
        <p:sp>
          <p:nvSpPr>
            <p:cNvPr id="5" name="object 5"/>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6" name="object 6"/>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7" name="object 7"/>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8" name="object 8"/>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9" name="object 9"/>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4" name="object 4"/>
          <p:cNvSpPr txBox="1"/>
          <p:nvPr/>
        </p:nvSpPr>
        <p:spPr>
          <a:xfrm>
            <a:off x="6667770" y="5281348"/>
            <a:ext cx="762721" cy="164960"/>
          </a:xfrm>
          <a:prstGeom prst="rect">
            <a:avLst/>
          </a:prstGeom>
        </p:spPr>
        <p:txBody>
          <a:bodyPr wrap="square" lIns="0" tIns="0" rIns="0" bIns="0" rtlCol="0">
            <a:noAutofit/>
          </a:bodyPr>
          <a:lstStyle/>
          <a:p>
            <a:pPr marL="12700">
              <a:lnSpc>
                <a:spcPct val="95825"/>
              </a:lnSpc>
              <a:spcBef>
                <a:spcPts val="10"/>
              </a:spcBef>
            </a:pPr>
            <a:r>
              <a:rPr sz="600">
                <a:solidFill>
                  <a:srgbClr val="487C83"/>
                </a:solidFill>
                <a:latin typeface="Arial"/>
                <a:cs typeface="Arial"/>
              </a:rPr>
              <a:t>&lt;..J'</a:t>
            </a:r>
            <a:r>
              <a:rPr sz="600">
                <a:solidFill>
                  <a:srgbClr val="346E75"/>
                </a:solidFill>
                <a:latin typeface="Arial"/>
                <a:cs typeface="Arial"/>
              </a:rPr>
              <a:t>pru</a:t>
            </a:r>
            <a:r>
              <a:rPr sz="600">
                <a:solidFill>
                  <a:srgbClr val="487C83"/>
                </a:solidFill>
                <a:latin typeface="Arial"/>
                <a:cs typeface="Arial"/>
              </a:rPr>
              <a:t>l  </a:t>
            </a:r>
            <a:r>
              <a:rPr sz="600" spc="-39">
                <a:solidFill>
                  <a:srgbClr val="487C83"/>
                </a:solidFill>
                <a:latin typeface="Arial"/>
                <a:cs typeface="Arial"/>
              </a:rPr>
              <a:t> </a:t>
            </a:r>
            <a:r>
              <a:rPr sz="600" spc="0">
                <a:solidFill>
                  <a:srgbClr val="346E75"/>
                </a:solidFill>
                <a:latin typeface="Arial"/>
                <a:cs typeface="Arial"/>
              </a:rPr>
              <a:t>&lt;.]l.£</a:t>
            </a:r>
            <a:r>
              <a:rPr sz="600" spc="0">
                <a:solidFill>
                  <a:srgbClr val="487C83"/>
                </a:solidFill>
                <a:latin typeface="Arial"/>
                <a:cs typeface="Arial"/>
              </a:rPr>
              <a:t>g.il  </a:t>
            </a:r>
            <a:r>
              <a:rPr sz="600" spc="101">
                <a:solidFill>
                  <a:srgbClr val="487C83"/>
                </a:solidFill>
                <a:latin typeface="Arial"/>
                <a:cs typeface="Arial"/>
              </a:rPr>
              <a:t> </a:t>
            </a:r>
            <a:r>
              <a:rPr sz="700" spc="0">
                <a:solidFill>
                  <a:srgbClr val="487C83"/>
                </a:solidFill>
                <a:latin typeface="Times New Roman"/>
                <a:cs typeface="Times New Roman"/>
              </a:rPr>
              <a:t>c</a:t>
            </a:r>
            <a:r>
              <a:rPr sz="700" spc="0">
                <a:solidFill>
                  <a:srgbClr val="346E75"/>
                </a:solidFill>
                <a:latin typeface="Times New Roman"/>
                <a:cs typeface="Times New Roman"/>
              </a:rPr>
              <a:t>l.J</a:t>
            </a:r>
            <a:r>
              <a:rPr sz="700" spc="0">
                <a:solidFill>
                  <a:srgbClr val="487C83"/>
                </a:solidFill>
                <a:latin typeface="Times New Roman"/>
                <a:cs typeface="Times New Roman"/>
              </a:rPr>
              <a:t>g</a:t>
            </a:r>
            <a:endParaRPr sz="700">
              <a:latin typeface="Times New Roman"/>
              <a:cs typeface="Times New Roman"/>
            </a:endParaRPr>
          </a:p>
          <a:p>
            <a:pPr marL="12700" marR="13334">
              <a:lnSpc>
                <a:spcPct val="95825"/>
              </a:lnSpc>
              <a:spcBef>
                <a:spcPts val="45"/>
              </a:spcBef>
            </a:pPr>
            <a:r>
              <a:rPr sz="300">
                <a:solidFill>
                  <a:srgbClr val="72999A"/>
                </a:solidFill>
                <a:latin typeface="Arial"/>
                <a:cs typeface="Arial"/>
              </a:rPr>
              <a:t>~</a:t>
            </a:r>
            <a:r>
              <a:rPr sz="300">
                <a:solidFill>
                  <a:srgbClr val="346E75"/>
                </a:solidFill>
                <a:latin typeface="Arial"/>
                <a:cs typeface="Arial"/>
              </a:rPr>
              <a:t>1</a:t>
            </a:r>
            <a:r>
              <a:rPr sz="300">
                <a:solidFill>
                  <a:srgbClr val="72999A"/>
                </a:solidFill>
                <a:latin typeface="Arial"/>
                <a:cs typeface="Arial"/>
              </a:rPr>
              <a:t>,:;~~~</a:t>
            </a:r>
            <a:r>
              <a:rPr sz="300">
                <a:solidFill>
                  <a:srgbClr val="90AFAE"/>
                </a:solidFill>
                <a:latin typeface="Arial"/>
                <a:cs typeface="Arial"/>
              </a:rPr>
              <a:t>r</a:t>
            </a:r>
            <a:r>
              <a:rPr sz="300">
                <a:solidFill>
                  <a:srgbClr val="72999A"/>
                </a:solidFill>
                <a:latin typeface="Arial"/>
                <a:cs typeface="Arial"/>
              </a:rPr>
              <a:t>.4J:c...~~ci.</a:t>
            </a:r>
            <a:r>
              <a:rPr sz="300">
                <a:solidFill>
                  <a:srgbClr val="487C83"/>
                </a:solidFill>
                <a:latin typeface="Arial"/>
                <a:cs typeface="Arial"/>
              </a:rPr>
              <a:t>dl</a:t>
            </a:r>
            <a:r>
              <a:rPr sz="300">
                <a:solidFill>
                  <a:srgbClr val="72999A"/>
                </a:solidFill>
                <a:latin typeface="Arial"/>
                <a:cs typeface="Arial"/>
              </a:rPr>
              <a:t>~l;J</a:t>
            </a:r>
            <a:endParaRPr sz="300">
              <a:latin typeface="Arial"/>
              <a:cs typeface="Arial"/>
            </a:endParaRPr>
          </a:p>
        </p:txBody>
      </p:sp>
      <p:sp>
        <p:nvSpPr>
          <p:cNvPr id="3" name="object 3"/>
          <p:cNvSpPr txBox="1"/>
          <p:nvPr/>
        </p:nvSpPr>
        <p:spPr>
          <a:xfrm>
            <a:off x="181852" y="5340518"/>
            <a:ext cx="115845" cy="139699"/>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471250" y="5340518"/>
            <a:ext cx="740575" cy="139699"/>
          </a:xfrm>
          <a:prstGeom prst="rect">
            <a:avLst/>
          </a:prstGeom>
        </p:spPr>
        <p:txBody>
          <a:bodyPr wrap="square" lIns="0" tIns="0" rIns="0" bIns="0" rtlCol="0">
            <a:noAutofit/>
          </a:bodyPr>
          <a:lstStyle/>
          <a:p>
            <a:pPr marL="12700">
              <a:lnSpc>
                <a:spcPts val="1019"/>
              </a:lnSpc>
              <a:spcBef>
                <a:spcPts val="51"/>
              </a:spcBef>
            </a:pPr>
            <a:r>
              <a:rPr sz="900" spc="0">
                <a:solidFill>
                  <a:srgbClr val="055664"/>
                </a:solidFill>
                <a:latin typeface="Arial"/>
                <a:cs typeface="Arial"/>
              </a:rPr>
              <a:t>SO_KSAUHS</a:t>
            </a:r>
            <a:endParaRPr sz="900">
              <a:latin typeface="Arial"/>
              <a:cs typeface="Arial"/>
            </a:endParaRPr>
          </a:p>
        </p:txBody>
      </p:sp>
      <p:sp>
        <p:nvSpPr>
          <p:cNvPr id="11" name="object 19">
            <a:extLst>
              <a:ext uri="{FF2B5EF4-FFF2-40B4-BE49-F238E27FC236}">
                <a16:creationId xmlns:a16="http://schemas.microsoft.com/office/drawing/2014/main" id="{64D3CF38-EEF6-0254-C2B8-C91CA699F829}"/>
              </a:ext>
            </a:extLst>
          </p:cNvPr>
          <p:cNvSpPr txBox="1"/>
          <p:nvPr/>
        </p:nvSpPr>
        <p:spPr>
          <a:xfrm>
            <a:off x="4080709" y="499542"/>
            <a:ext cx="3428999" cy="463719"/>
          </a:xfrm>
          <a:prstGeom prst="rect">
            <a:avLst/>
          </a:prstGeom>
        </p:spPr>
        <p:txBody>
          <a:bodyPr wrap="square" lIns="0" tIns="0" rIns="0" bIns="0" rtlCol="0">
            <a:noAutofit/>
          </a:bodyPr>
          <a:lstStyle/>
          <a:p>
            <a:pPr marL="12700">
              <a:lnSpc>
                <a:spcPts val="2060"/>
              </a:lnSpc>
              <a:spcBef>
                <a:spcPts val="103"/>
              </a:spcBef>
            </a:pPr>
            <a:r>
              <a:rPr lang="en-US" sz="3200">
                <a:solidFill>
                  <a:srgbClr val="025464"/>
                </a:solidFill>
                <a:latin typeface="Times New Roman"/>
                <a:cs typeface="Times New Roman"/>
              </a:rPr>
              <a:t>Context Diagram</a:t>
            </a:r>
            <a:endParaRPr lang="en-US" sz="3200">
              <a:latin typeface="Times New Roman"/>
              <a:cs typeface="Times New Roman"/>
            </a:endParaRPr>
          </a:p>
        </p:txBody>
      </p:sp>
      <p:grpSp>
        <p:nvGrpSpPr>
          <p:cNvPr id="12" name="Group 11">
            <a:extLst>
              <a:ext uri="{FF2B5EF4-FFF2-40B4-BE49-F238E27FC236}">
                <a16:creationId xmlns:a16="http://schemas.microsoft.com/office/drawing/2014/main" id="{4A127FEE-94EF-1E82-1EC9-E338EECBF4DA}"/>
              </a:ext>
            </a:extLst>
          </p:cNvPr>
          <p:cNvGrpSpPr/>
          <p:nvPr/>
        </p:nvGrpSpPr>
        <p:grpSpPr>
          <a:xfrm>
            <a:off x="3429000" y="323850"/>
            <a:ext cx="411241" cy="476987"/>
            <a:chOff x="4091833" y="497875"/>
            <a:chExt cx="411241" cy="476987"/>
          </a:xfrm>
        </p:grpSpPr>
        <p:sp>
          <p:nvSpPr>
            <p:cNvPr id="13" name="object 27">
              <a:extLst>
                <a:ext uri="{FF2B5EF4-FFF2-40B4-BE49-F238E27FC236}">
                  <a16:creationId xmlns:a16="http://schemas.microsoft.com/office/drawing/2014/main" id="{645843C5-7FC6-9861-96C3-C90208B6067C}"/>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4" name="object 21">
              <a:extLst>
                <a:ext uri="{FF2B5EF4-FFF2-40B4-BE49-F238E27FC236}">
                  <a16:creationId xmlns:a16="http://schemas.microsoft.com/office/drawing/2014/main" id="{F5D9C365-A2AE-7338-317B-5B7A84309D9B}"/>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6</a:t>
              </a:r>
              <a:endParaRPr sz="3200">
                <a:latin typeface="Times New Roman"/>
                <a:cs typeface="Times New Roman"/>
              </a:endParaRPr>
            </a:p>
          </p:txBody>
        </p:sp>
      </p:grpSp>
      <p:pic>
        <p:nvPicPr>
          <p:cNvPr id="15" name="Picture 14">
            <a:extLst>
              <a:ext uri="{FF2B5EF4-FFF2-40B4-BE49-F238E27FC236}">
                <a16:creationId xmlns:a16="http://schemas.microsoft.com/office/drawing/2014/main" id="{19CFA929-D43B-FF8E-F4A1-378E4EFA90E1}"/>
              </a:ext>
            </a:extLst>
          </p:cNvPr>
          <p:cNvPicPr>
            <a:picLocks noChangeAspect="1"/>
          </p:cNvPicPr>
          <p:nvPr/>
        </p:nvPicPr>
        <p:blipFill>
          <a:blip r:embed="rId2"/>
          <a:stretch>
            <a:fillRect/>
          </a:stretch>
        </p:blipFill>
        <p:spPr>
          <a:xfrm>
            <a:off x="883014" y="800837"/>
            <a:ext cx="9059535" cy="48760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291" y="5323500"/>
            <a:ext cx="115845" cy="139700"/>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1205688" y="5323500"/>
            <a:ext cx="740575" cy="139700"/>
          </a:xfrm>
          <a:prstGeom prst="rect">
            <a:avLst/>
          </a:prstGeom>
        </p:spPr>
        <p:txBody>
          <a:bodyPr wrap="square" lIns="0" tIns="0" rIns="0" bIns="0" rtlCol="0">
            <a:noAutofit/>
          </a:bodyPr>
          <a:lstStyle/>
          <a:p>
            <a:pPr marL="12700">
              <a:lnSpc>
                <a:spcPts val="1019"/>
              </a:lnSpc>
              <a:spcBef>
                <a:spcPts val="51"/>
              </a:spcBef>
            </a:pPr>
            <a:r>
              <a:rPr sz="900" spc="0">
                <a:solidFill>
                  <a:srgbClr val="075967"/>
                </a:solidFill>
                <a:latin typeface="Arial"/>
                <a:cs typeface="Arial"/>
              </a:rPr>
              <a:t>SO_KSAUHS</a:t>
            </a:r>
            <a:endParaRPr sz="900">
              <a:latin typeface="Arial"/>
              <a:cs typeface="Arial"/>
            </a:endParaRPr>
          </a:p>
        </p:txBody>
      </p:sp>
      <p:grpSp>
        <p:nvGrpSpPr>
          <p:cNvPr id="7" name="Group 6">
            <a:extLst>
              <a:ext uri="{FF2B5EF4-FFF2-40B4-BE49-F238E27FC236}">
                <a16:creationId xmlns:a16="http://schemas.microsoft.com/office/drawing/2014/main" id="{DCAAC801-6FB3-7268-15FC-C6ADDEC11217}"/>
              </a:ext>
            </a:extLst>
          </p:cNvPr>
          <p:cNvGrpSpPr/>
          <p:nvPr/>
        </p:nvGrpSpPr>
        <p:grpSpPr>
          <a:xfrm>
            <a:off x="624197" y="961594"/>
            <a:ext cx="253293" cy="3298316"/>
            <a:chOff x="624197" y="961594"/>
            <a:chExt cx="253293" cy="3298316"/>
          </a:xfrm>
        </p:grpSpPr>
        <p:sp>
          <p:nvSpPr>
            <p:cNvPr id="8" name="object 5">
              <a:extLst>
                <a:ext uri="{FF2B5EF4-FFF2-40B4-BE49-F238E27FC236}">
                  <a16:creationId xmlns:a16="http://schemas.microsoft.com/office/drawing/2014/main" id="{998C66B4-E387-1116-13D6-BD97C7DE1FAD}"/>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9" name="object 6">
              <a:extLst>
                <a:ext uri="{FF2B5EF4-FFF2-40B4-BE49-F238E27FC236}">
                  <a16:creationId xmlns:a16="http://schemas.microsoft.com/office/drawing/2014/main" id="{5ACDBA5F-1BAC-7FA6-47E0-26082215B4F3}"/>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10" name="object 7">
              <a:extLst>
                <a:ext uri="{FF2B5EF4-FFF2-40B4-BE49-F238E27FC236}">
                  <a16:creationId xmlns:a16="http://schemas.microsoft.com/office/drawing/2014/main" id="{E3612A6D-A31A-50A5-08F8-802BF6717897}"/>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1" name="object 8">
              <a:extLst>
                <a:ext uri="{FF2B5EF4-FFF2-40B4-BE49-F238E27FC236}">
                  <a16:creationId xmlns:a16="http://schemas.microsoft.com/office/drawing/2014/main" id="{0D560690-256C-A767-EAE9-E6BE30A44757}"/>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2" name="object 9">
              <a:extLst>
                <a:ext uri="{FF2B5EF4-FFF2-40B4-BE49-F238E27FC236}">
                  <a16:creationId xmlns:a16="http://schemas.microsoft.com/office/drawing/2014/main" id="{011D1C9F-FF96-5888-D77A-EE8E7299822A}"/>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3" name="object 19">
            <a:extLst>
              <a:ext uri="{FF2B5EF4-FFF2-40B4-BE49-F238E27FC236}">
                <a16:creationId xmlns:a16="http://schemas.microsoft.com/office/drawing/2014/main" id="{F73265BF-03CC-1407-894F-A31BA7960034}"/>
              </a:ext>
            </a:extLst>
          </p:cNvPr>
          <p:cNvSpPr txBox="1"/>
          <p:nvPr/>
        </p:nvSpPr>
        <p:spPr>
          <a:xfrm>
            <a:off x="4080709" y="499542"/>
            <a:ext cx="3428999" cy="463719"/>
          </a:xfrm>
          <a:prstGeom prst="rect">
            <a:avLst/>
          </a:prstGeom>
        </p:spPr>
        <p:txBody>
          <a:bodyPr wrap="square" lIns="0" tIns="0" rIns="0" bIns="0" rtlCol="0">
            <a:noAutofit/>
          </a:bodyPr>
          <a:lstStyle/>
          <a:p>
            <a:pPr marL="12700">
              <a:lnSpc>
                <a:spcPts val="2060"/>
              </a:lnSpc>
              <a:spcBef>
                <a:spcPts val="103"/>
              </a:spcBef>
            </a:pPr>
            <a:r>
              <a:rPr lang="en-US" sz="3200" spc="0">
                <a:solidFill>
                  <a:srgbClr val="025464"/>
                </a:solidFill>
                <a:latin typeface="Times New Roman"/>
                <a:cs typeface="Times New Roman"/>
              </a:rPr>
              <a:t>Data Flow Diagram</a:t>
            </a:r>
            <a:endParaRPr lang="en-US" sz="3200">
              <a:latin typeface="Times New Roman"/>
              <a:cs typeface="Times New Roman"/>
            </a:endParaRPr>
          </a:p>
        </p:txBody>
      </p:sp>
      <p:grpSp>
        <p:nvGrpSpPr>
          <p:cNvPr id="14" name="Group 13">
            <a:extLst>
              <a:ext uri="{FF2B5EF4-FFF2-40B4-BE49-F238E27FC236}">
                <a16:creationId xmlns:a16="http://schemas.microsoft.com/office/drawing/2014/main" id="{3FB50448-B1EC-F2E9-8DAF-0536FF6B618D}"/>
              </a:ext>
            </a:extLst>
          </p:cNvPr>
          <p:cNvGrpSpPr/>
          <p:nvPr/>
        </p:nvGrpSpPr>
        <p:grpSpPr>
          <a:xfrm>
            <a:off x="3429000" y="323850"/>
            <a:ext cx="411241" cy="476987"/>
            <a:chOff x="4091833" y="497875"/>
            <a:chExt cx="411241" cy="476987"/>
          </a:xfrm>
        </p:grpSpPr>
        <p:sp>
          <p:nvSpPr>
            <p:cNvPr id="15" name="object 27">
              <a:extLst>
                <a:ext uri="{FF2B5EF4-FFF2-40B4-BE49-F238E27FC236}">
                  <a16:creationId xmlns:a16="http://schemas.microsoft.com/office/drawing/2014/main" id="{722CF706-4F1E-63C0-1EBC-7B5EBEA3FF89}"/>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6" name="object 21">
              <a:extLst>
                <a:ext uri="{FF2B5EF4-FFF2-40B4-BE49-F238E27FC236}">
                  <a16:creationId xmlns:a16="http://schemas.microsoft.com/office/drawing/2014/main" id="{4A9C32CF-4396-3CCD-6C56-7DC70D743025}"/>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7</a:t>
              </a:r>
              <a:endParaRPr sz="3200">
                <a:latin typeface="Times New Roman"/>
                <a:cs typeface="Times New Roman"/>
              </a:endParaRPr>
            </a:p>
          </p:txBody>
        </p:sp>
      </p:grpSp>
      <p:pic>
        <p:nvPicPr>
          <p:cNvPr id="4" name="Picture 3" descr="A diagram of a company&#10;&#10;Description automatically generated">
            <a:extLst>
              <a:ext uri="{FF2B5EF4-FFF2-40B4-BE49-F238E27FC236}">
                <a16:creationId xmlns:a16="http://schemas.microsoft.com/office/drawing/2014/main" id="{C7508BF7-33C9-867F-E244-88A9DDED4649}"/>
              </a:ext>
            </a:extLst>
          </p:cNvPr>
          <p:cNvPicPr>
            <a:picLocks noChangeAspect="1"/>
          </p:cNvPicPr>
          <p:nvPr/>
        </p:nvPicPr>
        <p:blipFill>
          <a:blip r:embed="rId2"/>
          <a:stretch>
            <a:fillRect/>
          </a:stretch>
        </p:blipFill>
        <p:spPr>
          <a:xfrm>
            <a:off x="916291" y="800837"/>
            <a:ext cx="9142109" cy="47808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291" y="5323500"/>
            <a:ext cx="115845" cy="139700"/>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1205688" y="5323500"/>
            <a:ext cx="740575" cy="139700"/>
          </a:xfrm>
          <a:prstGeom prst="rect">
            <a:avLst/>
          </a:prstGeom>
        </p:spPr>
        <p:txBody>
          <a:bodyPr wrap="square" lIns="0" tIns="0" rIns="0" bIns="0" rtlCol="0">
            <a:noAutofit/>
          </a:bodyPr>
          <a:lstStyle/>
          <a:p>
            <a:pPr marL="12700">
              <a:lnSpc>
                <a:spcPts val="1019"/>
              </a:lnSpc>
              <a:spcBef>
                <a:spcPts val="51"/>
              </a:spcBef>
            </a:pPr>
            <a:r>
              <a:rPr sz="900" spc="0">
                <a:solidFill>
                  <a:srgbClr val="075967"/>
                </a:solidFill>
                <a:latin typeface="Arial"/>
                <a:cs typeface="Arial"/>
              </a:rPr>
              <a:t>SO_KSAUHS</a:t>
            </a:r>
            <a:endParaRPr sz="900">
              <a:latin typeface="Arial"/>
              <a:cs typeface="Arial"/>
            </a:endParaRPr>
          </a:p>
        </p:txBody>
      </p:sp>
      <p:grpSp>
        <p:nvGrpSpPr>
          <p:cNvPr id="6" name="Group 5">
            <a:extLst>
              <a:ext uri="{FF2B5EF4-FFF2-40B4-BE49-F238E27FC236}">
                <a16:creationId xmlns:a16="http://schemas.microsoft.com/office/drawing/2014/main" id="{276EADBB-BEB5-527B-F97F-860DD12B7319}"/>
              </a:ext>
            </a:extLst>
          </p:cNvPr>
          <p:cNvGrpSpPr/>
          <p:nvPr/>
        </p:nvGrpSpPr>
        <p:grpSpPr>
          <a:xfrm>
            <a:off x="624197" y="961594"/>
            <a:ext cx="253293" cy="3298316"/>
            <a:chOff x="624197" y="961594"/>
            <a:chExt cx="253293" cy="3298316"/>
          </a:xfrm>
        </p:grpSpPr>
        <p:sp>
          <p:nvSpPr>
            <p:cNvPr id="7" name="object 5">
              <a:extLst>
                <a:ext uri="{FF2B5EF4-FFF2-40B4-BE49-F238E27FC236}">
                  <a16:creationId xmlns:a16="http://schemas.microsoft.com/office/drawing/2014/main" id="{90D732C5-403D-9BC6-FB22-7A3F7A8765D6}"/>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8" name="object 6">
              <a:extLst>
                <a:ext uri="{FF2B5EF4-FFF2-40B4-BE49-F238E27FC236}">
                  <a16:creationId xmlns:a16="http://schemas.microsoft.com/office/drawing/2014/main" id="{D489DBEB-2A53-7F50-C961-22E71F5DAC2F}"/>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9" name="object 7">
              <a:extLst>
                <a:ext uri="{FF2B5EF4-FFF2-40B4-BE49-F238E27FC236}">
                  <a16:creationId xmlns:a16="http://schemas.microsoft.com/office/drawing/2014/main" id="{48E18FE2-DBDC-3D13-346D-1019F18CFED1}"/>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8">
              <a:extLst>
                <a:ext uri="{FF2B5EF4-FFF2-40B4-BE49-F238E27FC236}">
                  <a16:creationId xmlns:a16="http://schemas.microsoft.com/office/drawing/2014/main" id="{3B87D4FC-9FBF-FE38-611B-61FE586463A1}"/>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1" name="object 9">
              <a:extLst>
                <a:ext uri="{FF2B5EF4-FFF2-40B4-BE49-F238E27FC236}">
                  <a16:creationId xmlns:a16="http://schemas.microsoft.com/office/drawing/2014/main" id="{9C8D727B-98B2-5AEF-04EE-16F37116AF8F}"/>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2" name="object 19">
            <a:extLst>
              <a:ext uri="{FF2B5EF4-FFF2-40B4-BE49-F238E27FC236}">
                <a16:creationId xmlns:a16="http://schemas.microsoft.com/office/drawing/2014/main" id="{29AA46A4-2402-9664-D20C-EA2610A75E88}"/>
              </a:ext>
            </a:extLst>
          </p:cNvPr>
          <p:cNvSpPr txBox="1"/>
          <p:nvPr/>
        </p:nvSpPr>
        <p:spPr>
          <a:xfrm>
            <a:off x="4080709" y="499542"/>
            <a:ext cx="3428999" cy="463719"/>
          </a:xfrm>
          <a:prstGeom prst="rect">
            <a:avLst/>
          </a:prstGeom>
        </p:spPr>
        <p:txBody>
          <a:bodyPr wrap="square" lIns="0" tIns="0" rIns="0" bIns="0" rtlCol="0">
            <a:noAutofit/>
          </a:bodyPr>
          <a:lstStyle/>
          <a:p>
            <a:pPr marL="12700">
              <a:lnSpc>
                <a:spcPts val="2060"/>
              </a:lnSpc>
              <a:spcBef>
                <a:spcPts val="103"/>
              </a:spcBef>
            </a:pPr>
            <a:r>
              <a:rPr lang="en-GB" sz="3200" spc="0">
                <a:solidFill>
                  <a:srgbClr val="025464"/>
                </a:solidFill>
                <a:latin typeface="Times New Roman"/>
                <a:cs typeface="Times New Roman"/>
              </a:rPr>
              <a:t>Target</a:t>
            </a:r>
            <a:r>
              <a:rPr lang="en-GB" sz="3200" spc="50">
                <a:solidFill>
                  <a:srgbClr val="025464"/>
                </a:solidFill>
                <a:latin typeface="Times New Roman"/>
                <a:cs typeface="Times New Roman"/>
              </a:rPr>
              <a:t> </a:t>
            </a:r>
            <a:r>
              <a:rPr lang="en-GB" sz="3200" spc="0">
                <a:solidFill>
                  <a:srgbClr val="025464"/>
                </a:solidFill>
                <a:latin typeface="Times New Roman"/>
                <a:cs typeface="Times New Roman"/>
              </a:rPr>
              <a:t>group</a:t>
            </a:r>
            <a:endParaRPr lang="en-GB" sz="3200">
              <a:latin typeface="Times New Roman"/>
              <a:cs typeface="Times New Roman"/>
            </a:endParaRPr>
          </a:p>
        </p:txBody>
      </p:sp>
      <p:grpSp>
        <p:nvGrpSpPr>
          <p:cNvPr id="13" name="Group 12">
            <a:extLst>
              <a:ext uri="{FF2B5EF4-FFF2-40B4-BE49-F238E27FC236}">
                <a16:creationId xmlns:a16="http://schemas.microsoft.com/office/drawing/2014/main" id="{D419A3AF-DC97-4409-3E8D-FC9AB09E16C1}"/>
              </a:ext>
            </a:extLst>
          </p:cNvPr>
          <p:cNvGrpSpPr/>
          <p:nvPr/>
        </p:nvGrpSpPr>
        <p:grpSpPr>
          <a:xfrm>
            <a:off x="3429000" y="323850"/>
            <a:ext cx="411241" cy="476987"/>
            <a:chOff x="4091833" y="497875"/>
            <a:chExt cx="411241" cy="476987"/>
          </a:xfrm>
        </p:grpSpPr>
        <p:sp>
          <p:nvSpPr>
            <p:cNvPr id="14" name="object 27">
              <a:extLst>
                <a:ext uri="{FF2B5EF4-FFF2-40B4-BE49-F238E27FC236}">
                  <a16:creationId xmlns:a16="http://schemas.microsoft.com/office/drawing/2014/main" id="{9CD37004-DD1E-F90E-B1C2-441012E5CDC7}"/>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5" name="object 21">
              <a:extLst>
                <a:ext uri="{FF2B5EF4-FFF2-40B4-BE49-F238E27FC236}">
                  <a16:creationId xmlns:a16="http://schemas.microsoft.com/office/drawing/2014/main" id="{2BDE1407-355D-A709-8656-A85F3049D937}"/>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8</a:t>
              </a:r>
              <a:endParaRPr sz="3200">
                <a:latin typeface="Times New Roman"/>
                <a:cs typeface="Times New Roman"/>
              </a:endParaRPr>
            </a:p>
          </p:txBody>
        </p:sp>
      </p:grpSp>
      <p:sp>
        <p:nvSpPr>
          <p:cNvPr id="4" name="Rectangle 1">
            <a:extLst>
              <a:ext uri="{FF2B5EF4-FFF2-40B4-BE49-F238E27FC236}">
                <a16:creationId xmlns:a16="http://schemas.microsoft.com/office/drawing/2014/main" id="{CE427730-3925-BEAA-DCA9-B65F3CCDA664}"/>
              </a:ext>
            </a:extLst>
          </p:cNvPr>
          <p:cNvSpPr>
            <a:spLocks noChangeArrowheads="1"/>
          </p:cNvSpPr>
          <p:nvPr/>
        </p:nvSpPr>
        <p:spPr bwMode="auto">
          <a:xfrm>
            <a:off x="999646" y="1160821"/>
            <a:ext cx="3583424" cy="377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700" b="1" i="0" u="none" strike="noStrike" cap="none" normalizeH="0" baseline="0">
                <a:ln>
                  <a:noFill/>
                </a:ln>
                <a:solidFill>
                  <a:schemeClr val="tx1"/>
                </a:solidFill>
                <a:effectLst/>
                <a:latin typeface="Arial" panose="020B0604020202020204" pitchFamily="34" charset="0"/>
              </a:rPr>
              <a:t>University Students</a:t>
            </a:r>
            <a:r>
              <a:rPr kumimoji="0" lang="en-US" altLang="en-US" sz="17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chemeClr val="tx1"/>
                </a:solidFill>
                <a:effectLst/>
                <a:latin typeface="Arial" panose="020B0604020202020204" pitchFamily="34" charset="0"/>
              </a:rPr>
              <a:t>Those who use campus transportation to attend classes, events, and other university activities.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chemeClr val="tx1"/>
                </a:solidFill>
                <a:effectLst/>
                <a:latin typeface="Arial" panose="020B0604020202020204" pitchFamily="34" charset="0"/>
              </a:rPr>
              <a:t>Students who prioritize a reliable, safe, and efficient transport experience.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700" b="1" i="0" u="none" strike="noStrike" cap="none" normalizeH="0" baseline="0">
                <a:ln>
                  <a:noFill/>
                </a:ln>
                <a:solidFill>
                  <a:schemeClr val="tx1"/>
                </a:solidFill>
                <a:effectLst/>
                <a:latin typeface="Arial" panose="020B0604020202020204" pitchFamily="34" charset="0"/>
              </a:rPr>
              <a:t>University Staff and Faculty</a:t>
            </a:r>
            <a:r>
              <a:rPr kumimoji="0" lang="en-US" altLang="en-US" sz="17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chemeClr val="tx1"/>
                </a:solidFill>
                <a:effectLst/>
                <a:latin typeface="Arial" panose="020B0604020202020204" pitchFamily="34" charset="0"/>
              </a:rPr>
              <a:t>Professors, administrators, and other staff who require a convenient and timely mode of transport within the campus.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TextBox 15">
            <a:extLst>
              <a:ext uri="{FF2B5EF4-FFF2-40B4-BE49-F238E27FC236}">
                <a16:creationId xmlns:a16="http://schemas.microsoft.com/office/drawing/2014/main" id="{73277A07-5CEB-B02D-D322-B99C2841C1B0}"/>
              </a:ext>
            </a:extLst>
          </p:cNvPr>
          <p:cNvSpPr txBox="1"/>
          <p:nvPr/>
        </p:nvSpPr>
        <p:spPr>
          <a:xfrm>
            <a:off x="4724400" y="1037711"/>
            <a:ext cx="5029200" cy="40164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700" b="1" i="0" u="none" strike="noStrike" cap="none" normalizeH="0" baseline="0">
                <a:ln>
                  <a:noFill/>
                </a:ln>
                <a:solidFill>
                  <a:schemeClr val="tx1"/>
                </a:solidFill>
                <a:effectLst/>
                <a:latin typeface="Arial" panose="020B0604020202020204" pitchFamily="34" charset="0"/>
              </a:rPr>
              <a:t>Bus Drivers</a:t>
            </a:r>
            <a:r>
              <a:rPr kumimoji="0" lang="en-US" altLang="en-US" sz="17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chemeClr val="tx1"/>
                </a:solidFill>
                <a:effectLst/>
                <a:latin typeface="Arial" panose="020B0604020202020204" pitchFamily="34" charset="0"/>
              </a:rPr>
              <a:t>Individuals responsible for operating the buses, benefiting from features such as real-time route updates, congestion alerts, and performance monitoring.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700" b="1" i="0" u="none" strike="noStrike" cap="none" normalizeH="0" baseline="0">
                <a:ln>
                  <a:noFill/>
                </a:ln>
                <a:solidFill>
                  <a:schemeClr val="tx1"/>
                </a:solidFill>
                <a:effectLst/>
                <a:latin typeface="Arial" panose="020B0604020202020204" pitchFamily="34" charset="0"/>
              </a:rPr>
              <a:t>University Administration</a:t>
            </a:r>
            <a:r>
              <a:rPr kumimoji="0" lang="en-US" altLang="en-US" sz="17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chemeClr val="tx1"/>
                </a:solidFill>
                <a:effectLst/>
                <a:latin typeface="Arial" panose="020B0604020202020204" pitchFamily="34" charset="0"/>
              </a:rPr>
              <a:t>Departments managing campus transportation, looking for solutions that optimize transit operations, ensure data privacy, and provide analytics for better decision-making. </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700" b="1" i="0" u="none" strike="noStrike" cap="none" normalizeH="0" baseline="0">
                <a:ln>
                  <a:noFill/>
                </a:ln>
                <a:solidFill>
                  <a:schemeClr val="tx1"/>
                </a:solidFill>
                <a:effectLst/>
                <a:latin typeface="Arial" panose="020B0604020202020204" pitchFamily="34" charset="0"/>
              </a:rPr>
              <a:t>Visitors to the Campus</a:t>
            </a:r>
            <a:r>
              <a:rPr kumimoji="0" lang="en-US" altLang="en-US" sz="1700" b="0" i="0" u="none" strike="noStrike" cap="none" normalizeH="0" baseline="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a:ln>
                  <a:noFill/>
                </a:ln>
                <a:solidFill>
                  <a:schemeClr val="tx1"/>
                </a:solidFill>
                <a:effectLst/>
                <a:latin typeface="Arial" panose="020B0604020202020204" pitchFamily="34" charset="0"/>
              </a:rPr>
              <a:t>Guests, parents, and attendees of university events who need access to organized and user-friendly transport.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6" name="object 6"/>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7" name="object 7"/>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8" name="object 8"/>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9" name="object 9"/>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4" name="object 4"/>
          <p:cNvSpPr txBox="1"/>
          <p:nvPr/>
        </p:nvSpPr>
        <p:spPr>
          <a:xfrm>
            <a:off x="6667770" y="5281348"/>
            <a:ext cx="762721" cy="164960"/>
          </a:xfrm>
          <a:prstGeom prst="rect">
            <a:avLst/>
          </a:prstGeom>
        </p:spPr>
        <p:txBody>
          <a:bodyPr wrap="square" lIns="0" tIns="0" rIns="0" bIns="0" rtlCol="0">
            <a:noAutofit/>
          </a:bodyPr>
          <a:lstStyle/>
          <a:p>
            <a:pPr marL="12700">
              <a:lnSpc>
                <a:spcPct val="95825"/>
              </a:lnSpc>
              <a:spcBef>
                <a:spcPts val="10"/>
              </a:spcBef>
            </a:pPr>
            <a:r>
              <a:rPr sz="600">
                <a:solidFill>
                  <a:srgbClr val="487C83"/>
                </a:solidFill>
                <a:latin typeface="Arial"/>
                <a:cs typeface="Arial"/>
              </a:rPr>
              <a:t>&lt;..J'</a:t>
            </a:r>
            <a:r>
              <a:rPr sz="600">
                <a:solidFill>
                  <a:srgbClr val="346E75"/>
                </a:solidFill>
                <a:latin typeface="Arial"/>
                <a:cs typeface="Arial"/>
              </a:rPr>
              <a:t>pru</a:t>
            </a:r>
            <a:r>
              <a:rPr sz="600">
                <a:solidFill>
                  <a:srgbClr val="487C83"/>
                </a:solidFill>
                <a:latin typeface="Arial"/>
                <a:cs typeface="Arial"/>
              </a:rPr>
              <a:t>l  </a:t>
            </a:r>
            <a:r>
              <a:rPr sz="600" spc="-39">
                <a:solidFill>
                  <a:srgbClr val="487C83"/>
                </a:solidFill>
                <a:latin typeface="Arial"/>
                <a:cs typeface="Arial"/>
              </a:rPr>
              <a:t> </a:t>
            </a:r>
            <a:r>
              <a:rPr sz="600" spc="0">
                <a:solidFill>
                  <a:srgbClr val="346E75"/>
                </a:solidFill>
                <a:latin typeface="Arial"/>
                <a:cs typeface="Arial"/>
              </a:rPr>
              <a:t>&lt;.]l.£</a:t>
            </a:r>
            <a:r>
              <a:rPr sz="600" spc="0">
                <a:solidFill>
                  <a:srgbClr val="487C83"/>
                </a:solidFill>
                <a:latin typeface="Arial"/>
                <a:cs typeface="Arial"/>
              </a:rPr>
              <a:t>g.il  </a:t>
            </a:r>
            <a:r>
              <a:rPr sz="600" spc="101">
                <a:solidFill>
                  <a:srgbClr val="487C83"/>
                </a:solidFill>
                <a:latin typeface="Arial"/>
                <a:cs typeface="Arial"/>
              </a:rPr>
              <a:t> </a:t>
            </a:r>
            <a:r>
              <a:rPr sz="700" spc="0">
                <a:solidFill>
                  <a:srgbClr val="487C83"/>
                </a:solidFill>
                <a:latin typeface="Times New Roman"/>
                <a:cs typeface="Times New Roman"/>
              </a:rPr>
              <a:t>c</a:t>
            </a:r>
            <a:r>
              <a:rPr sz="700" spc="0">
                <a:solidFill>
                  <a:srgbClr val="346E75"/>
                </a:solidFill>
                <a:latin typeface="Times New Roman"/>
                <a:cs typeface="Times New Roman"/>
              </a:rPr>
              <a:t>l.J</a:t>
            </a:r>
            <a:r>
              <a:rPr sz="700" spc="0">
                <a:solidFill>
                  <a:srgbClr val="487C83"/>
                </a:solidFill>
                <a:latin typeface="Times New Roman"/>
                <a:cs typeface="Times New Roman"/>
              </a:rPr>
              <a:t>g</a:t>
            </a:r>
            <a:endParaRPr sz="700">
              <a:latin typeface="Times New Roman"/>
              <a:cs typeface="Times New Roman"/>
            </a:endParaRPr>
          </a:p>
          <a:p>
            <a:pPr marL="12700" marR="13334">
              <a:lnSpc>
                <a:spcPct val="95825"/>
              </a:lnSpc>
              <a:spcBef>
                <a:spcPts val="45"/>
              </a:spcBef>
            </a:pPr>
            <a:r>
              <a:rPr sz="300">
                <a:solidFill>
                  <a:srgbClr val="72999A"/>
                </a:solidFill>
                <a:latin typeface="Arial"/>
                <a:cs typeface="Arial"/>
              </a:rPr>
              <a:t>~</a:t>
            </a:r>
            <a:r>
              <a:rPr sz="300">
                <a:solidFill>
                  <a:srgbClr val="346E75"/>
                </a:solidFill>
                <a:latin typeface="Arial"/>
                <a:cs typeface="Arial"/>
              </a:rPr>
              <a:t>1</a:t>
            </a:r>
            <a:r>
              <a:rPr sz="300">
                <a:solidFill>
                  <a:srgbClr val="72999A"/>
                </a:solidFill>
                <a:latin typeface="Arial"/>
                <a:cs typeface="Arial"/>
              </a:rPr>
              <a:t>,:;~~~</a:t>
            </a:r>
            <a:r>
              <a:rPr sz="300">
                <a:solidFill>
                  <a:srgbClr val="90AFAE"/>
                </a:solidFill>
                <a:latin typeface="Arial"/>
                <a:cs typeface="Arial"/>
              </a:rPr>
              <a:t>r</a:t>
            </a:r>
            <a:r>
              <a:rPr sz="300">
                <a:solidFill>
                  <a:srgbClr val="72999A"/>
                </a:solidFill>
                <a:latin typeface="Arial"/>
                <a:cs typeface="Arial"/>
              </a:rPr>
              <a:t>.4J:c...~~ci.</a:t>
            </a:r>
            <a:r>
              <a:rPr sz="300">
                <a:solidFill>
                  <a:srgbClr val="487C83"/>
                </a:solidFill>
                <a:latin typeface="Arial"/>
                <a:cs typeface="Arial"/>
              </a:rPr>
              <a:t>dl</a:t>
            </a:r>
            <a:r>
              <a:rPr sz="300">
                <a:solidFill>
                  <a:srgbClr val="72999A"/>
                </a:solidFill>
                <a:latin typeface="Arial"/>
                <a:cs typeface="Arial"/>
              </a:rPr>
              <a:t>~l;J</a:t>
            </a:r>
            <a:endParaRPr sz="300">
              <a:latin typeface="Arial"/>
              <a:cs typeface="Arial"/>
            </a:endParaRPr>
          </a:p>
        </p:txBody>
      </p:sp>
      <p:sp>
        <p:nvSpPr>
          <p:cNvPr id="3" name="object 3"/>
          <p:cNvSpPr txBox="1"/>
          <p:nvPr/>
        </p:nvSpPr>
        <p:spPr>
          <a:xfrm>
            <a:off x="181852" y="5340518"/>
            <a:ext cx="115845" cy="139699"/>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471250" y="5340518"/>
            <a:ext cx="740575" cy="139699"/>
          </a:xfrm>
          <a:prstGeom prst="rect">
            <a:avLst/>
          </a:prstGeom>
        </p:spPr>
        <p:txBody>
          <a:bodyPr wrap="square" lIns="0" tIns="0" rIns="0" bIns="0" rtlCol="0">
            <a:noAutofit/>
          </a:bodyPr>
          <a:lstStyle/>
          <a:p>
            <a:pPr marL="12700">
              <a:lnSpc>
                <a:spcPts val="1019"/>
              </a:lnSpc>
              <a:spcBef>
                <a:spcPts val="51"/>
              </a:spcBef>
            </a:pPr>
            <a:r>
              <a:rPr sz="900" spc="0">
                <a:solidFill>
                  <a:srgbClr val="055664"/>
                </a:solidFill>
                <a:latin typeface="Arial"/>
                <a:cs typeface="Arial"/>
              </a:rPr>
              <a:t>SO_KSAUHS</a:t>
            </a:r>
            <a:endParaRPr sz="900">
              <a:latin typeface="Arial"/>
              <a:cs typeface="Arial"/>
            </a:endParaRPr>
          </a:p>
        </p:txBody>
      </p:sp>
      <p:grpSp>
        <p:nvGrpSpPr>
          <p:cNvPr id="10" name="Group 9">
            <a:extLst>
              <a:ext uri="{FF2B5EF4-FFF2-40B4-BE49-F238E27FC236}">
                <a16:creationId xmlns:a16="http://schemas.microsoft.com/office/drawing/2014/main" id="{9EA50C1F-EA6B-554F-D18A-AD3686C3DDD6}"/>
              </a:ext>
            </a:extLst>
          </p:cNvPr>
          <p:cNvGrpSpPr/>
          <p:nvPr/>
        </p:nvGrpSpPr>
        <p:grpSpPr>
          <a:xfrm>
            <a:off x="624197" y="961594"/>
            <a:ext cx="253293" cy="3298316"/>
            <a:chOff x="624197" y="961594"/>
            <a:chExt cx="253293" cy="3298316"/>
          </a:xfrm>
        </p:grpSpPr>
        <p:sp>
          <p:nvSpPr>
            <p:cNvPr id="11" name="object 5">
              <a:extLst>
                <a:ext uri="{FF2B5EF4-FFF2-40B4-BE49-F238E27FC236}">
                  <a16:creationId xmlns:a16="http://schemas.microsoft.com/office/drawing/2014/main" id="{1F5E1AC3-B771-F1ED-8552-83D61396D4D7}"/>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12" name="object 6">
              <a:extLst>
                <a:ext uri="{FF2B5EF4-FFF2-40B4-BE49-F238E27FC236}">
                  <a16:creationId xmlns:a16="http://schemas.microsoft.com/office/drawing/2014/main" id="{5F7BDAAE-B5E4-1915-29DC-CA6B39AE35DE}"/>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13" name="object 7">
              <a:extLst>
                <a:ext uri="{FF2B5EF4-FFF2-40B4-BE49-F238E27FC236}">
                  <a16:creationId xmlns:a16="http://schemas.microsoft.com/office/drawing/2014/main" id="{C362DB21-9E52-8520-B2EB-41F1AED1A4E3}"/>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4" name="object 8">
              <a:extLst>
                <a:ext uri="{FF2B5EF4-FFF2-40B4-BE49-F238E27FC236}">
                  <a16:creationId xmlns:a16="http://schemas.microsoft.com/office/drawing/2014/main" id="{2469658F-3186-93BB-7FAF-B4B9F2E3FBBD}"/>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5" name="object 9">
              <a:extLst>
                <a:ext uri="{FF2B5EF4-FFF2-40B4-BE49-F238E27FC236}">
                  <a16:creationId xmlns:a16="http://schemas.microsoft.com/office/drawing/2014/main" id="{84DA206E-0E50-2F74-13F7-16DAFED096CC}"/>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6" name="object 19">
            <a:extLst>
              <a:ext uri="{FF2B5EF4-FFF2-40B4-BE49-F238E27FC236}">
                <a16:creationId xmlns:a16="http://schemas.microsoft.com/office/drawing/2014/main" id="{F806F5C6-AE0D-D347-FA20-44A3C80A21BB}"/>
              </a:ext>
            </a:extLst>
          </p:cNvPr>
          <p:cNvSpPr txBox="1"/>
          <p:nvPr/>
        </p:nvSpPr>
        <p:spPr>
          <a:xfrm>
            <a:off x="4080709" y="499542"/>
            <a:ext cx="3428999" cy="463719"/>
          </a:xfrm>
          <a:prstGeom prst="rect">
            <a:avLst/>
          </a:prstGeom>
        </p:spPr>
        <p:txBody>
          <a:bodyPr wrap="square" lIns="0" tIns="0" rIns="0" bIns="0" rtlCol="0">
            <a:noAutofit/>
          </a:bodyPr>
          <a:lstStyle/>
          <a:p>
            <a:pPr marL="12700">
              <a:lnSpc>
                <a:spcPts val="2060"/>
              </a:lnSpc>
              <a:spcBef>
                <a:spcPts val="103"/>
              </a:spcBef>
            </a:pPr>
            <a:r>
              <a:rPr lang="en-GB" sz="3200" spc="0">
                <a:solidFill>
                  <a:srgbClr val="025464"/>
                </a:solidFill>
                <a:latin typeface="Times New Roman"/>
                <a:cs typeface="Times New Roman"/>
              </a:rPr>
              <a:t>Prototype</a:t>
            </a:r>
            <a:endParaRPr lang="en-GB" sz="3200">
              <a:latin typeface="Times New Roman"/>
              <a:cs typeface="Times New Roman"/>
            </a:endParaRPr>
          </a:p>
        </p:txBody>
      </p:sp>
      <p:grpSp>
        <p:nvGrpSpPr>
          <p:cNvPr id="17" name="Group 16">
            <a:extLst>
              <a:ext uri="{FF2B5EF4-FFF2-40B4-BE49-F238E27FC236}">
                <a16:creationId xmlns:a16="http://schemas.microsoft.com/office/drawing/2014/main" id="{C83BCE66-96DF-C69E-4748-F8E979D22AB9}"/>
              </a:ext>
            </a:extLst>
          </p:cNvPr>
          <p:cNvGrpSpPr/>
          <p:nvPr/>
        </p:nvGrpSpPr>
        <p:grpSpPr>
          <a:xfrm>
            <a:off x="3429000" y="323850"/>
            <a:ext cx="411241" cy="476987"/>
            <a:chOff x="4091833" y="497875"/>
            <a:chExt cx="411241" cy="476987"/>
          </a:xfrm>
        </p:grpSpPr>
        <p:sp>
          <p:nvSpPr>
            <p:cNvPr id="18" name="object 27">
              <a:extLst>
                <a:ext uri="{FF2B5EF4-FFF2-40B4-BE49-F238E27FC236}">
                  <a16:creationId xmlns:a16="http://schemas.microsoft.com/office/drawing/2014/main" id="{8169F1D3-D248-8978-6120-786FB1239EF3}"/>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9" name="object 21">
              <a:extLst>
                <a:ext uri="{FF2B5EF4-FFF2-40B4-BE49-F238E27FC236}">
                  <a16:creationId xmlns:a16="http://schemas.microsoft.com/office/drawing/2014/main" id="{89A5D935-B169-A8C9-FE38-827D24BB2C85}"/>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9</a:t>
              </a:r>
              <a:endParaRPr sz="3200">
                <a:latin typeface="Times New Roman"/>
                <a:cs typeface="Times New Roman"/>
              </a:endParaRPr>
            </a:p>
          </p:txBody>
        </p:sp>
      </p:grpSp>
      <p:pic>
        <p:nvPicPr>
          <p:cNvPr id="20" name="صورة 51" descr="صورة تحتوي على نص, الهاتف النقال, لقطة شاشة, الخط&#10;&#10;تم إنشاء الوصف تلقائياً">
            <a:extLst>
              <a:ext uri="{FF2B5EF4-FFF2-40B4-BE49-F238E27FC236}">
                <a16:creationId xmlns:a16="http://schemas.microsoft.com/office/drawing/2014/main" id="{4BD8C5B7-872C-FBCE-03EC-93DDC38BA82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4419" y="836420"/>
            <a:ext cx="1389470" cy="2233541"/>
          </a:xfrm>
          <a:prstGeom prst="rect">
            <a:avLst/>
          </a:prstGeom>
        </p:spPr>
      </p:pic>
      <p:pic>
        <p:nvPicPr>
          <p:cNvPr id="21" name="صورة 56" descr="صورة تحتوي على نص, لقطة شاشة, الهاتف النقال, جهاز محمول&#10;&#10;تم إنشاء الوصف تلقائياً">
            <a:extLst>
              <a:ext uri="{FF2B5EF4-FFF2-40B4-BE49-F238E27FC236}">
                <a16:creationId xmlns:a16="http://schemas.microsoft.com/office/drawing/2014/main" id="{361298A2-F2FD-EFF5-E0AF-99AE69A3FF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01206" y="800710"/>
            <a:ext cx="1449410" cy="2233541"/>
          </a:xfrm>
          <a:prstGeom prst="rect">
            <a:avLst/>
          </a:prstGeom>
        </p:spPr>
      </p:pic>
      <p:pic>
        <p:nvPicPr>
          <p:cNvPr id="22" name="Picture 21" descr="A screen shot of a phone&#10;&#10;Description automatically generated">
            <a:extLst>
              <a:ext uri="{FF2B5EF4-FFF2-40B4-BE49-F238E27FC236}">
                <a16:creationId xmlns:a16="http://schemas.microsoft.com/office/drawing/2014/main" id="{BDF7D119-D893-D383-64F3-CD7EDDCBBF19}"/>
              </a:ext>
            </a:extLst>
          </p:cNvPr>
          <p:cNvPicPr>
            <a:picLocks noChangeAspect="1"/>
          </p:cNvPicPr>
          <p:nvPr/>
        </p:nvPicPr>
        <p:blipFill>
          <a:blip r:embed="rId4"/>
          <a:stretch>
            <a:fillRect/>
          </a:stretch>
        </p:blipFill>
        <p:spPr>
          <a:xfrm>
            <a:off x="3812294" y="783356"/>
            <a:ext cx="1416982" cy="2286605"/>
          </a:xfrm>
          <a:prstGeom prst="rect">
            <a:avLst/>
          </a:prstGeom>
        </p:spPr>
      </p:pic>
      <p:pic>
        <p:nvPicPr>
          <p:cNvPr id="24" name="صورة 63" descr="صورة تحتوي على نص, الهاتف النقال, لقطة شاشة, هاتف ذكي&#10;&#10;تم إنشاء الوصف تلقائياً">
            <a:extLst>
              <a:ext uri="{FF2B5EF4-FFF2-40B4-BE49-F238E27FC236}">
                <a16:creationId xmlns:a16="http://schemas.microsoft.com/office/drawing/2014/main" id="{927563BA-E2FE-0BDB-1ADD-D8712A7F125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8198" y="718076"/>
            <a:ext cx="1474349" cy="2386759"/>
          </a:xfrm>
          <a:prstGeom prst="rect">
            <a:avLst/>
          </a:prstGeom>
        </p:spPr>
      </p:pic>
      <p:pic>
        <p:nvPicPr>
          <p:cNvPr id="25" name="صورة 64">
            <a:extLst>
              <a:ext uri="{FF2B5EF4-FFF2-40B4-BE49-F238E27FC236}">
                <a16:creationId xmlns:a16="http://schemas.microsoft.com/office/drawing/2014/main" id="{8ABF5F42-2B7D-03E9-E909-3234399872E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70136" y="759492"/>
            <a:ext cx="1416983" cy="2375501"/>
          </a:xfrm>
          <a:prstGeom prst="rect">
            <a:avLst/>
          </a:prstGeom>
        </p:spPr>
      </p:pic>
      <p:pic>
        <p:nvPicPr>
          <p:cNvPr id="26" name="Picture 25" descr="A screen shot of a phone&#10;&#10;Description automatically generated">
            <a:extLst>
              <a:ext uri="{FF2B5EF4-FFF2-40B4-BE49-F238E27FC236}">
                <a16:creationId xmlns:a16="http://schemas.microsoft.com/office/drawing/2014/main" id="{BBF54F43-0DE3-A5EE-DDD3-0160C5922CC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87119" y="728747"/>
            <a:ext cx="1467855" cy="2426483"/>
          </a:xfrm>
          <a:prstGeom prst="rect">
            <a:avLst/>
          </a:prstGeom>
        </p:spPr>
      </p:pic>
      <p:pic>
        <p:nvPicPr>
          <p:cNvPr id="27" name="صورة 65" descr="صورة تحتوي على نص, الهاتف النقال, جهاز محمول, لقطة شاشة&#10;&#10;تم إنشاء الوصف تلقائياً">
            <a:extLst>
              <a:ext uri="{FF2B5EF4-FFF2-40B4-BE49-F238E27FC236}">
                <a16:creationId xmlns:a16="http://schemas.microsoft.com/office/drawing/2014/main" id="{11946580-F758-5E6F-A790-8044345452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54689" y="3069961"/>
            <a:ext cx="1416983" cy="2454724"/>
          </a:xfrm>
          <a:prstGeom prst="rect">
            <a:avLst/>
          </a:prstGeom>
        </p:spPr>
      </p:pic>
      <p:pic>
        <p:nvPicPr>
          <p:cNvPr id="28" name="صورة 66" descr="صورة تحتوي على نص, هاتف ذكي&#10;&#10;تم إنشاء الوصف تلقائياً">
            <a:extLst>
              <a:ext uri="{FF2B5EF4-FFF2-40B4-BE49-F238E27FC236}">
                <a16:creationId xmlns:a16="http://schemas.microsoft.com/office/drawing/2014/main" id="{9F50EBFE-E822-9248-3868-6851C473CC6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15311" y="3109616"/>
            <a:ext cx="1416983" cy="241025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16291" y="5323500"/>
            <a:ext cx="115845" cy="139700"/>
          </a:xfrm>
          <a:prstGeom prst="rect">
            <a:avLst/>
          </a:prstGeom>
        </p:spPr>
        <p:txBody>
          <a:bodyPr wrap="square" lIns="0" tIns="0" rIns="0" bIns="0" rtlCol="0">
            <a:noAutofit/>
          </a:bodyPr>
          <a:lstStyle/>
          <a:p>
            <a:pPr marL="12700">
              <a:lnSpc>
                <a:spcPts val="1019"/>
              </a:lnSpc>
              <a:spcBef>
                <a:spcPts val="51"/>
              </a:spcBef>
            </a:pPr>
            <a:r>
              <a:rPr sz="900" spc="0">
                <a:latin typeface="Arial"/>
                <a:cs typeface="Arial"/>
              </a:rPr>
              <a:t>~</a:t>
            </a:r>
            <a:endParaRPr sz="900">
              <a:latin typeface="Arial"/>
              <a:cs typeface="Arial"/>
            </a:endParaRPr>
          </a:p>
        </p:txBody>
      </p:sp>
      <p:sp>
        <p:nvSpPr>
          <p:cNvPr id="2" name="object 2"/>
          <p:cNvSpPr txBox="1"/>
          <p:nvPr/>
        </p:nvSpPr>
        <p:spPr>
          <a:xfrm>
            <a:off x="1205688" y="5323500"/>
            <a:ext cx="740575" cy="139700"/>
          </a:xfrm>
          <a:prstGeom prst="rect">
            <a:avLst/>
          </a:prstGeom>
        </p:spPr>
        <p:txBody>
          <a:bodyPr wrap="square" lIns="0" tIns="0" rIns="0" bIns="0" rtlCol="0">
            <a:noAutofit/>
          </a:bodyPr>
          <a:lstStyle/>
          <a:p>
            <a:pPr marL="12700">
              <a:lnSpc>
                <a:spcPts val="1019"/>
              </a:lnSpc>
              <a:spcBef>
                <a:spcPts val="51"/>
              </a:spcBef>
            </a:pPr>
            <a:r>
              <a:rPr sz="900" spc="0">
                <a:solidFill>
                  <a:srgbClr val="075967"/>
                </a:solidFill>
                <a:latin typeface="Arial"/>
                <a:cs typeface="Arial"/>
              </a:rPr>
              <a:t>SO_KSAUHS</a:t>
            </a:r>
            <a:endParaRPr sz="900">
              <a:latin typeface="Arial"/>
              <a:cs typeface="Arial"/>
            </a:endParaRPr>
          </a:p>
        </p:txBody>
      </p:sp>
      <p:grpSp>
        <p:nvGrpSpPr>
          <p:cNvPr id="5" name="Group 4">
            <a:extLst>
              <a:ext uri="{FF2B5EF4-FFF2-40B4-BE49-F238E27FC236}">
                <a16:creationId xmlns:a16="http://schemas.microsoft.com/office/drawing/2014/main" id="{B25F8658-F40B-732F-16CC-8DA0986027B0}"/>
              </a:ext>
            </a:extLst>
          </p:cNvPr>
          <p:cNvGrpSpPr/>
          <p:nvPr/>
        </p:nvGrpSpPr>
        <p:grpSpPr>
          <a:xfrm>
            <a:off x="624197" y="961594"/>
            <a:ext cx="253293" cy="3298316"/>
            <a:chOff x="624197" y="961594"/>
            <a:chExt cx="253293" cy="3298316"/>
          </a:xfrm>
        </p:grpSpPr>
        <p:sp>
          <p:nvSpPr>
            <p:cNvPr id="6" name="object 5">
              <a:extLst>
                <a:ext uri="{FF2B5EF4-FFF2-40B4-BE49-F238E27FC236}">
                  <a16:creationId xmlns:a16="http://schemas.microsoft.com/office/drawing/2014/main" id="{50DB55B7-5770-3E29-55A5-5D351051CE94}"/>
                </a:ext>
              </a:extLst>
            </p:cNvPr>
            <p:cNvSpPr/>
            <p:nvPr/>
          </p:nvSpPr>
          <p:spPr>
            <a:xfrm>
              <a:off x="624197" y="1653371"/>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sp>
          <p:nvSpPr>
            <p:cNvPr id="7" name="object 6">
              <a:extLst>
                <a:ext uri="{FF2B5EF4-FFF2-40B4-BE49-F238E27FC236}">
                  <a16:creationId xmlns:a16="http://schemas.microsoft.com/office/drawing/2014/main" id="{74108A26-2415-0C20-C030-572783F29B8E}"/>
                </a:ext>
              </a:extLst>
            </p:cNvPr>
            <p:cNvSpPr/>
            <p:nvPr/>
          </p:nvSpPr>
          <p:spPr>
            <a:xfrm>
              <a:off x="750712" y="961594"/>
              <a:ext cx="0" cy="3151370"/>
            </a:xfrm>
            <a:custGeom>
              <a:avLst/>
              <a:gdLst/>
              <a:ahLst/>
              <a:cxnLst/>
              <a:rect l="l" t="t" r="r" b="b"/>
              <a:pathLst>
                <a:path h="3151370">
                  <a:moveTo>
                    <a:pt x="0" y="0"/>
                  </a:moveTo>
                  <a:lnTo>
                    <a:pt x="0" y="3151370"/>
                  </a:lnTo>
                </a:path>
              </a:pathLst>
            </a:custGeom>
            <a:ln w="26193">
              <a:solidFill>
                <a:srgbClr val="1E889A"/>
              </a:solidFill>
            </a:ln>
          </p:spPr>
          <p:txBody>
            <a:bodyPr wrap="square" lIns="0" tIns="0" rIns="0" bIns="0" rtlCol="0">
              <a:noAutofit/>
            </a:bodyPr>
            <a:lstStyle/>
            <a:p>
              <a:endParaRPr/>
            </a:p>
          </p:txBody>
        </p:sp>
        <p:sp>
          <p:nvSpPr>
            <p:cNvPr id="8" name="object 7">
              <a:extLst>
                <a:ext uri="{FF2B5EF4-FFF2-40B4-BE49-F238E27FC236}">
                  <a16:creationId xmlns:a16="http://schemas.microsoft.com/office/drawing/2014/main" id="{D09098AF-5977-C69C-2A7D-7428471518D1}"/>
                </a:ext>
              </a:extLst>
            </p:cNvPr>
            <p:cNvSpPr/>
            <p:nvPr/>
          </p:nvSpPr>
          <p:spPr>
            <a:xfrm>
              <a:off x="624197" y="2424253"/>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9" name="object 8">
              <a:extLst>
                <a:ext uri="{FF2B5EF4-FFF2-40B4-BE49-F238E27FC236}">
                  <a16:creationId xmlns:a16="http://schemas.microsoft.com/office/drawing/2014/main" id="{13C413B4-0ABC-1A26-3DBB-29B8369B5217}"/>
                </a:ext>
              </a:extLst>
            </p:cNvPr>
            <p:cNvSpPr/>
            <p:nvPr/>
          </p:nvSpPr>
          <p:spPr>
            <a:xfrm>
              <a:off x="624197" y="3195135"/>
              <a:ext cx="253293" cy="293893"/>
            </a:xfrm>
            <a:custGeom>
              <a:avLst/>
              <a:gdLst/>
              <a:ahLst/>
              <a:cxnLst/>
              <a:rect l="l" t="t" r="r" b="b"/>
              <a:pathLst>
                <a:path w="253293" h="293893">
                  <a:moveTo>
                    <a:pt x="126777" y="0"/>
                  </a:moveTo>
                  <a:lnTo>
                    <a:pt x="0" y="63388"/>
                  </a:lnTo>
                  <a:lnTo>
                    <a:pt x="0" y="230504"/>
                  </a:lnTo>
                  <a:lnTo>
                    <a:pt x="126777" y="293893"/>
                  </a:lnTo>
                  <a:lnTo>
                    <a:pt x="253293" y="230504"/>
                  </a:lnTo>
                  <a:lnTo>
                    <a:pt x="253293" y="63388"/>
                  </a:lnTo>
                  <a:lnTo>
                    <a:pt x="126777" y="0"/>
                  </a:lnTo>
                  <a:close/>
                </a:path>
              </a:pathLst>
            </a:custGeom>
            <a:solidFill>
              <a:srgbClr val="1E889A"/>
            </a:solidFill>
          </p:spPr>
          <p:txBody>
            <a:bodyPr wrap="square" lIns="0" tIns="0" rIns="0" bIns="0" rtlCol="0">
              <a:noAutofit/>
            </a:bodyPr>
            <a:lstStyle/>
            <a:p>
              <a:endParaRPr/>
            </a:p>
          </p:txBody>
        </p:sp>
        <p:sp>
          <p:nvSpPr>
            <p:cNvPr id="10" name="object 9">
              <a:extLst>
                <a:ext uri="{FF2B5EF4-FFF2-40B4-BE49-F238E27FC236}">
                  <a16:creationId xmlns:a16="http://schemas.microsoft.com/office/drawing/2014/main" id="{F5BDB360-7D59-1C7F-199B-B053B9B4F4C6}"/>
                </a:ext>
              </a:extLst>
            </p:cNvPr>
            <p:cNvSpPr/>
            <p:nvPr/>
          </p:nvSpPr>
          <p:spPr>
            <a:xfrm>
              <a:off x="624197" y="3966016"/>
              <a:ext cx="253293" cy="293894"/>
            </a:xfrm>
            <a:custGeom>
              <a:avLst/>
              <a:gdLst/>
              <a:ahLst/>
              <a:cxnLst/>
              <a:rect l="l" t="t" r="r" b="b"/>
              <a:pathLst>
                <a:path w="253293" h="293894">
                  <a:moveTo>
                    <a:pt x="126777" y="0"/>
                  </a:moveTo>
                  <a:lnTo>
                    <a:pt x="0" y="63389"/>
                  </a:lnTo>
                  <a:lnTo>
                    <a:pt x="0" y="230504"/>
                  </a:lnTo>
                  <a:lnTo>
                    <a:pt x="126777" y="293894"/>
                  </a:lnTo>
                  <a:lnTo>
                    <a:pt x="253293" y="230504"/>
                  </a:lnTo>
                  <a:lnTo>
                    <a:pt x="253293" y="63389"/>
                  </a:lnTo>
                  <a:lnTo>
                    <a:pt x="126777" y="0"/>
                  </a:lnTo>
                  <a:close/>
                </a:path>
              </a:pathLst>
            </a:custGeom>
            <a:solidFill>
              <a:srgbClr val="1E889A"/>
            </a:solidFill>
          </p:spPr>
          <p:txBody>
            <a:bodyPr wrap="square" lIns="0" tIns="0" rIns="0" bIns="0" rtlCol="0">
              <a:noAutofit/>
            </a:bodyPr>
            <a:lstStyle/>
            <a:p>
              <a:endParaRPr/>
            </a:p>
          </p:txBody>
        </p:sp>
      </p:grpSp>
      <p:sp>
        <p:nvSpPr>
          <p:cNvPr id="11" name="object 19">
            <a:extLst>
              <a:ext uri="{FF2B5EF4-FFF2-40B4-BE49-F238E27FC236}">
                <a16:creationId xmlns:a16="http://schemas.microsoft.com/office/drawing/2014/main" id="{CB2FE829-70E6-0A1F-08F0-2047B469C35E}"/>
              </a:ext>
            </a:extLst>
          </p:cNvPr>
          <p:cNvSpPr txBox="1"/>
          <p:nvPr/>
        </p:nvSpPr>
        <p:spPr>
          <a:xfrm>
            <a:off x="4080709" y="499542"/>
            <a:ext cx="3428999" cy="463719"/>
          </a:xfrm>
          <a:prstGeom prst="rect">
            <a:avLst/>
          </a:prstGeom>
        </p:spPr>
        <p:txBody>
          <a:bodyPr wrap="square" lIns="0" tIns="0" rIns="0" bIns="0" rtlCol="0">
            <a:noAutofit/>
          </a:bodyPr>
          <a:lstStyle/>
          <a:p>
            <a:pPr marL="12700">
              <a:lnSpc>
                <a:spcPts val="2060"/>
              </a:lnSpc>
              <a:spcBef>
                <a:spcPts val="103"/>
              </a:spcBef>
            </a:pPr>
            <a:r>
              <a:rPr lang="en-GB" sz="3200" spc="0">
                <a:solidFill>
                  <a:srgbClr val="025464"/>
                </a:solidFill>
                <a:latin typeface="Times New Roman"/>
                <a:cs typeface="Times New Roman"/>
              </a:rPr>
              <a:t>Group Members</a:t>
            </a:r>
          </a:p>
        </p:txBody>
      </p:sp>
      <p:grpSp>
        <p:nvGrpSpPr>
          <p:cNvPr id="12" name="Group 11">
            <a:extLst>
              <a:ext uri="{FF2B5EF4-FFF2-40B4-BE49-F238E27FC236}">
                <a16:creationId xmlns:a16="http://schemas.microsoft.com/office/drawing/2014/main" id="{143816EF-1228-68FD-BD4C-323FEE434FD1}"/>
              </a:ext>
            </a:extLst>
          </p:cNvPr>
          <p:cNvGrpSpPr/>
          <p:nvPr/>
        </p:nvGrpSpPr>
        <p:grpSpPr>
          <a:xfrm>
            <a:off x="3429000" y="323850"/>
            <a:ext cx="411241" cy="476987"/>
            <a:chOff x="4091833" y="497875"/>
            <a:chExt cx="411241" cy="476987"/>
          </a:xfrm>
        </p:grpSpPr>
        <p:sp>
          <p:nvSpPr>
            <p:cNvPr id="13" name="object 27">
              <a:extLst>
                <a:ext uri="{FF2B5EF4-FFF2-40B4-BE49-F238E27FC236}">
                  <a16:creationId xmlns:a16="http://schemas.microsoft.com/office/drawing/2014/main" id="{97C144A8-F289-4613-90C7-BF21D42097CA}"/>
                </a:ext>
              </a:extLst>
            </p:cNvPr>
            <p:cNvSpPr/>
            <p:nvPr/>
          </p:nvSpPr>
          <p:spPr>
            <a:xfrm>
              <a:off x="4091833" y="497875"/>
              <a:ext cx="411241" cy="476987"/>
            </a:xfrm>
            <a:custGeom>
              <a:avLst/>
              <a:gdLst/>
              <a:ahLst/>
              <a:cxnLst/>
              <a:rect l="l" t="t" r="r" b="b"/>
              <a:pathLst>
                <a:path w="411241" h="476987">
                  <a:moveTo>
                    <a:pt x="205620" y="0"/>
                  </a:moveTo>
                  <a:lnTo>
                    <a:pt x="0" y="102679"/>
                  </a:lnTo>
                  <a:lnTo>
                    <a:pt x="0" y="374046"/>
                  </a:lnTo>
                  <a:lnTo>
                    <a:pt x="205620" y="476987"/>
                  </a:lnTo>
                  <a:lnTo>
                    <a:pt x="411241" y="374046"/>
                  </a:lnTo>
                  <a:lnTo>
                    <a:pt x="411241" y="102679"/>
                  </a:lnTo>
                  <a:lnTo>
                    <a:pt x="205620" y="0"/>
                  </a:lnTo>
                  <a:close/>
                </a:path>
              </a:pathLst>
            </a:custGeom>
            <a:solidFill>
              <a:srgbClr val="025464"/>
            </a:solidFill>
          </p:spPr>
          <p:txBody>
            <a:bodyPr wrap="square" lIns="0" tIns="0" rIns="0" bIns="0" rtlCol="0">
              <a:noAutofit/>
            </a:bodyPr>
            <a:lstStyle/>
            <a:p>
              <a:endParaRPr/>
            </a:p>
          </p:txBody>
        </p:sp>
        <p:sp>
          <p:nvSpPr>
            <p:cNvPr id="14" name="object 21">
              <a:extLst>
                <a:ext uri="{FF2B5EF4-FFF2-40B4-BE49-F238E27FC236}">
                  <a16:creationId xmlns:a16="http://schemas.microsoft.com/office/drawing/2014/main" id="{97C1B3D8-60A2-9257-BF4E-DBAC57F2737B}"/>
                </a:ext>
              </a:extLst>
            </p:cNvPr>
            <p:cNvSpPr txBox="1"/>
            <p:nvPr/>
          </p:nvSpPr>
          <p:spPr>
            <a:xfrm>
              <a:off x="4216984" y="604090"/>
              <a:ext cx="195774" cy="266382"/>
            </a:xfrm>
            <a:prstGeom prst="rect">
              <a:avLst/>
            </a:prstGeom>
          </p:spPr>
          <p:txBody>
            <a:bodyPr wrap="square" lIns="0" tIns="0" rIns="0" bIns="0" rtlCol="0">
              <a:noAutofit/>
            </a:bodyPr>
            <a:lstStyle/>
            <a:p>
              <a:pPr marL="12700">
                <a:lnSpc>
                  <a:spcPts val="1930"/>
                </a:lnSpc>
                <a:spcBef>
                  <a:spcPts val="266"/>
                </a:spcBef>
              </a:pPr>
              <a:r>
                <a:rPr lang="ar-EG" sz="3200" spc="0" baseline="-7628">
                  <a:solidFill>
                    <a:srgbClr val="D9D8D8"/>
                  </a:solidFill>
                  <a:latin typeface="Times New Roman"/>
                  <a:cs typeface="Times New Roman"/>
                </a:rPr>
                <a:t>9</a:t>
              </a:r>
              <a:endParaRPr sz="3200">
                <a:latin typeface="Times New Roman"/>
                <a:cs typeface="Times New Roman"/>
              </a:endParaRPr>
            </a:p>
          </p:txBody>
        </p:sp>
      </p:grpSp>
      <p:pic>
        <p:nvPicPr>
          <p:cNvPr id="2052" name="image4.png">
            <a:extLst>
              <a:ext uri="{FF2B5EF4-FFF2-40B4-BE49-F238E27FC236}">
                <a16:creationId xmlns:a16="http://schemas.microsoft.com/office/drawing/2014/main" id="{A4A1ECCE-6AF7-3368-7B9D-286EFC62B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7525" y="21421725"/>
            <a:ext cx="7572375" cy="88582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a:extLst>
              <a:ext uri="{FF2B5EF4-FFF2-40B4-BE49-F238E27FC236}">
                <a16:creationId xmlns:a16="http://schemas.microsoft.com/office/drawing/2014/main" id="{8B80F595-CE3E-6E6B-BBC1-309077CA1E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7525" y="21421725"/>
            <a:ext cx="7572375" cy="8858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E52CC971-C6B0-B272-B467-B29FB2894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7525" y="21421725"/>
            <a:ext cx="7572375" cy="885825"/>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1">
            <a:extLst>
              <a:ext uri="{FF2B5EF4-FFF2-40B4-BE49-F238E27FC236}">
                <a16:creationId xmlns:a16="http://schemas.microsoft.com/office/drawing/2014/main" id="{12B2BEE3-4431-039D-FC01-EBFB79949F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7525" y="21421725"/>
            <a:ext cx="7572375" cy="8858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5">
            <a:extLst>
              <a:ext uri="{FF2B5EF4-FFF2-40B4-BE49-F238E27FC236}">
                <a16:creationId xmlns:a16="http://schemas.microsoft.com/office/drawing/2014/main" id="{85A49146-3884-5DCD-E95D-A3E904DF95A7}"/>
              </a:ext>
            </a:extLst>
          </p:cNvPr>
          <p:cNvSpPr>
            <a:spLocks noChangeArrowheads="1"/>
          </p:cNvSpPr>
          <p:nvPr/>
        </p:nvSpPr>
        <p:spPr bwMode="auto">
          <a:xfrm>
            <a:off x="3117850" y="2386013"/>
            <a:ext cx="1005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6" name="Rectangle 6">
            <a:extLst>
              <a:ext uri="{FF2B5EF4-FFF2-40B4-BE49-F238E27FC236}">
                <a16:creationId xmlns:a16="http://schemas.microsoft.com/office/drawing/2014/main" id="{9F484EF7-BD69-1498-DC72-C78CC10E93D0}"/>
              </a:ext>
            </a:extLst>
          </p:cNvPr>
          <p:cNvSpPr>
            <a:spLocks noChangeArrowheads="1"/>
          </p:cNvSpPr>
          <p:nvPr/>
        </p:nvSpPr>
        <p:spPr bwMode="auto">
          <a:xfrm>
            <a:off x="3117850" y="2843213"/>
            <a:ext cx="1005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8" name="Object 17">
            <a:extLst>
              <a:ext uri="{FF2B5EF4-FFF2-40B4-BE49-F238E27FC236}">
                <a16:creationId xmlns:a16="http://schemas.microsoft.com/office/drawing/2014/main" id="{A2AA7B87-C622-046F-1A94-F76438D659BA}"/>
              </a:ext>
            </a:extLst>
          </p:cNvPr>
          <p:cNvGraphicFramePr>
            <a:graphicFrameLocks noChangeAspect="1"/>
          </p:cNvGraphicFramePr>
          <p:nvPr>
            <p:extLst>
              <p:ext uri="{D42A27DB-BD31-4B8C-83A1-F6EECF244321}">
                <p14:modId xmlns:p14="http://schemas.microsoft.com/office/powerpoint/2010/main" val="3627588099"/>
              </p:ext>
            </p:extLst>
          </p:nvPr>
        </p:nvGraphicFramePr>
        <p:xfrm>
          <a:off x="1762957" y="1514225"/>
          <a:ext cx="6619042" cy="3457821"/>
        </p:xfrm>
        <a:graphic>
          <a:graphicData uri="http://schemas.openxmlformats.org/presentationml/2006/ole">
            <mc:AlternateContent xmlns:mc="http://schemas.openxmlformats.org/markup-compatibility/2006">
              <mc:Choice xmlns:v="urn:schemas-microsoft-com:vml" Requires="v">
                <p:oleObj name="Document" r:id="rId3" imgW="5743300" imgH="2608695" progId="Word.Document.12">
                  <p:embed/>
                </p:oleObj>
              </mc:Choice>
              <mc:Fallback>
                <p:oleObj name="Document" r:id="rId3" imgW="5743300" imgH="2608695" progId="Word.Document.12">
                  <p:embed/>
                  <p:pic>
                    <p:nvPicPr>
                      <p:cNvPr id="18" name="Object 17">
                        <a:extLst>
                          <a:ext uri="{FF2B5EF4-FFF2-40B4-BE49-F238E27FC236}">
                            <a16:creationId xmlns:a16="http://schemas.microsoft.com/office/drawing/2014/main" id="{A2AA7B87-C622-046F-1A94-F76438D659BA}"/>
                          </a:ext>
                        </a:extLst>
                      </p:cNvPr>
                      <p:cNvPicPr/>
                      <p:nvPr/>
                    </p:nvPicPr>
                    <p:blipFill>
                      <a:blip r:embed="rId4"/>
                      <a:stretch>
                        <a:fillRect/>
                      </a:stretch>
                    </p:blipFill>
                    <p:spPr>
                      <a:xfrm>
                        <a:off x="1762957" y="1514225"/>
                        <a:ext cx="6619042" cy="3457821"/>
                      </a:xfrm>
                      <a:prstGeom prst="rect">
                        <a:avLst/>
                      </a:prstGeom>
                      <a:solidFill>
                        <a:schemeClr val="bg1"/>
                      </a:solidFill>
                      <a:ln>
                        <a:solidFill>
                          <a:schemeClr val="bg1"/>
                        </a:solidFill>
                      </a:ln>
                    </p:spPr>
                  </p:pic>
                </p:oleObj>
              </mc:Fallback>
            </mc:AlternateContent>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lowchart: Process 7">
            <a:extLst>
              <a:ext uri="{FF2B5EF4-FFF2-40B4-BE49-F238E27FC236}">
                <a16:creationId xmlns:a16="http://schemas.microsoft.com/office/drawing/2014/main" id="{714B4ED0-4B99-CFC1-8270-0E29BA2A9678}"/>
              </a:ext>
            </a:extLst>
          </p:cNvPr>
          <p:cNvSpPr/>
          <p:nvPr/>
        </p:nvSpPr>
        <p:spPr>
          <a:xfrm>
            <a:off x="1828800" y="1649996"/>
            <a:ext cx="6924068" cy="2138502"/>
          </a:xfrm>
          <a:prstGeom prst="flowChartProcess">
            <a:avLst/>
          </a:prstGeom>
          <a:solidFill>
            <a:srgbClr val="006666"/>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FA81E33C-9BFF-6439-B127-ED1B398A445B}"/>
              </a:ext>
            </a:extLst>
          </p:cNvPr>
          <p:cNvSpPr txBox="1"/>
          <p:nvPr/>
        </p:nvSpPr>
        <p:spPr>
          <a:xfrm>
            <a:off x="2209800" y="2279520"/>
            <a:ext cx="3657600" cy="830997"/>
          </a:xfrm>
          <a:prstGeom prst="rect">
            <a:avLst/>
          </a:prstGeom>
          <a:noFill/>
        </p:spPr>
        <p:txBody>
          <a:bodyPr wrap="square" rtlCol="0">
            <a:spAutoFit/>
          </a:bodyPr>
          <a:lstStyle/>
          <a:p>
            <a:r>
              <a:rPr lang="en-US" sz="4800">
                <a:solidFill>
                  <a:schemeClr val="bg1"/>
                </a:solidFill>
              </a:rPr>
              <a:t>THANK YOU</a:t>
            </a:r>
            <a:endParaRPr lang="en-GB" sz="4800">
              <a:solidFill>
                <a:schemeClr val="bg1"/>
              </a:solidFill>
            </a:endParaRPr>
          </a:p>
        </p:txBody>
      </p:sp>
      <p:pic>
        <p:nvPicPr>
          <p:cNvPr id="6" name="Picture 5">
            <a:extLst>
              <a:ext uri="{FF2B5EF4-FFF2-40B4-BE49-F238E27FC236}">
                <a16:creationId xmlns:a16="http://schemas.microsoft.com/office/drawing/2014/main" id="{6841BC72-F94C-DFE8-AB67-87D0EB49E0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81600" y="1704420"/>
            <a:ext cx="3470366" cy="19811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Retrospect">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51F5A9-AE06-4408-BD8E-8EF964A0E1A0}">
  <we:reference id="6a7bd4f3-0563-43af-8c08-79110eebdff6" version="1.1.4.0" store="EXCatalog" storeType="EXCatalog"/>
  <we:alternateReferences>
    <we:reference id="WA104381155" version="1.1.4.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2ee1535-fef5-41c3-a1ee-2257e0eee33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6BB69C3230DD439DABD94A2FB5F970" ma:contentTypeVersion="8" ma:contentTypeDescription="Create a new document." ma:contentTypeScope="" ma:versionID="350bc77f74b8c38dae34f3a0a15084ca">
  <xsd:schema xmlns:xsd="http://www.w3.org/2001/XMLSchema" xmlns:xs="http://www.w3.org/2001/XMLSchema" xmlns:p="http://schemas.microsoft.com/office/2006/metadata/properties" xmlns:ns3="f2ee1535-fef5-41c3-a1ee-2257e0eee339" targetNamespace="http://schemas.microsoft.com/office/2006/metadata/properties" ma:root="true" ma:fieldsID="472a4598988bb3a9a239a7963aedf804" ns3:_="">
    <xsd:import namespace="f2ee1535-fef5-41c3-a1ee-2257e0eee33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ee1535-fef5-41c3-a1ee-2257e0eee3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92E07F3-198A-4608-BACF-7C6EBA6327A8}">
  <ds:schemaRefs>
    <ds:schemaRef ds:uri="http://schemas.microsoft.com/office/2006/metadata/properties"/>
    <ds:schemaRef ds:uri="http://www.w3.org/2000/xmlns/"/>
    <ds:schemaRef ds:uri="f2ee1535-fef5-41c3-a1ee-2257e0eee339"/>
    <ds:schemaRef ds:uri="http://www.w3.org/2001/XMLSchema-instance"/>
  </ds:schemaRefs>
</ds:datastoreItem>
</file>

<file path=customXml/itemProps2.xml><?xml version="1.0" encoding="utf-8"?>
<ds:datastoreItem xmlns:ds="http://schemas.openxmlformats.org/officeDocument/2006/customXml" ds:itemID="{FB213F17-D435-4BCE-A38C-EC95859AC3D1}">
  <ds:schemaRefs>
    <ds:schemaRef ds:uri="http://schemas.microsoft.com/sharepoint/v3/contenttype/forms"/>
  </ds:schemaRefs>
</ds:datastoreItem>
</file>

<file path=customXml/itemProps3.xml><?xml version="1.0" encoding="utf-8"?>
<ds:datastoreItem xmlns:ds="http://schemas.openxmlformats.org/officeDocument/2006/customXml" ds:itemID="{65DD6FD7-E1BF-4505-B511-EFD5FA153A99}">
  <ds:schemaRefs>
    <ds:schemaRef ds:uri="http://schemas.microsoft.com/office/2006/metadata/contentType"/>
    <ds:schemaRef ds:uri="http://schemas.microsoft.com/office/2006/metadata/properties/metaAttributes"/>
    <ds:schemaRef ds:uri="http://www.w3.org/2000/xmlns/"/>
    <ds:schemaRef ds:uri="http://www.w3.org/2001/XMLSchema"/>
    <ds:schemaRef ds:uri="f2ee1535-fef5-41c3-a1ee-2257e0eee339"/>
  </ds:schemaRefs>
</ds:datastoreItem>
</file>

<file path=docProps/app.xml><?xml version="1.0" encoding="utf-8"?>
<Properties xmlns="http://schemas.openxmlformats.org/officeDocument/2006/extended-properties" xmlns:vt="http://schemas.openxmlformats.org/officeDocument/2006/docPropsVTypes">
  <Template>Retrospect</Template>
  <TotalTime>0</TotalTime>
  <Words>954</Words>
  <Application>Microsoft Office PowerPoint</Application>
  <PresentationFormat>Custom</PresentationFormat>
  <Paragraphs>158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shaymaa sorour</dc:creator>
  <cp:lastModifiedBy>نوره أمين بن عبدالله الماجد</cp:lastModifiedBy>
  <cp:revision>2</cp:revision>
  <dcterms:modified xsi:type="dcterms:W3CDTF">2024-12-04T16:49:44Z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0x010100366BB69C3230DD439DABD94A2FB5F970</vt:lpwstr>
  </property>
</Properties>
</file>